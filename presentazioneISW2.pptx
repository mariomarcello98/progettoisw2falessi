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77D9BC-431F-C351-1103-28C792F3762F}" v="5" dt="2025-06-29T21:20:44.946"/>
    <p1510:client id="{5BF249FE-1716-3D7F-EBD0-D55859E339F7}" v="809" dt="2025-06-29T20:11:25.976"/>
    <p1510:client id="{657D870C-7F5E-D5A4-D35C-216280DE8460}" v="885" dt="2025-06-28T14:41:58.545"/>
    <p1510:client id="{863DBD60-AB92-65AC-2843-0EFCDA35FEC8}" v="37" dt="2025-06-29T21:21:16"/>
    <p1510:client id="{A6B451E1-9F3F-895A-E8AA-B8007D8D4C1E}" v="443" dt="2025-06-28T17:59:56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Stile scuro 2 - Colore 1/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C5CD5-8C5B-456F-899F-0F0B0BE844B5}" type="datetimeFigureOut">
              <a:rPr lang="it-IT" smtClean="0"/>
              <a:t>29/06/2025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52949-07F2-4759-8166-1661512222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77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CA21-2DE0-46D2-A904-1502091EB2EA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39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D839-016F-42A3-A0EB-2D6ABF8B9C61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3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E834-9E5E-4A6E-B44C-E2430AB44FC9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10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5A80E-42A9-4C93-BCBE-E82F0BDF9B18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DC854-7683-4635-AD0A-F6CD2E12E05D}" type="datetime1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9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DFB7-801D-4E34-B597-BA85AAC63D84}" type="datetime1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4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ECDD3-F8BD-4C70-9476-F708C84EF5E9}" type="datetime1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3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CC7F36A-67DD-4922-839B-7635C8A734A9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4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676B-57BF-4C84-BC91-75E2D0F4D896}" type="datetime1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6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0B39-6660-4EAD-A42A-734B93D2E10F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2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AE8D-C7B7-43EA-9699-D5BBB354C057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3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A70FCD6-8934-48C0-A28A-9E4C32232CCD}" type="datetime1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71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narcloud.io/summary/new_code?id=MarioMarcello98_ProgettoISW2Falessi" TargetMode="External"/><Relationship Id="rId2" Type="http://schemas.openxmlformats.org/officeDocument/2006/relationships/hyperlink" Target="https://github.com/MarioMarcello98/ProgettoISW2Faless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790AC1A4-04A3-8E22-5BDA-49AB08CEFF1D}"/>
              </a:ext>
            </a:extLst>
          </p:cNvPr>
          <p:cNvSpPr txBox="1"/>
          <p:nvPr/>
        </p:nvSpPr>
        <p:spPr>
          <a:xfrm>
            <a:off x="1169232" y="1588957"/>
            <a:ext cx="104181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800"/>
              <a:t>Machine Learning for Software Engineering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1427E38-ED43-DF0C-68EB-714C2AAAC6DC}"/>
              </a:ext>
            </a:extLst>
          </p:cNvPr>
          <p:cNvSpPr txBox="1"/>
          <p:nvPr/>
        </p:nvSpPr>
        <p:spPr>
          <a:xfrm>
            <a:off x="1169232" y="4499709"/>
            <a:ext cx="10088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/>
              <a:t>Marcello Mario – Matricola: 0333376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7FB8F33-9619-1ED3-9A77-A7DF8A9D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4697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28ABC5-B414-EAB3-5C68-288FCE9F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956C4C-292B-08F5-B7F5-109969896F0C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600">
                <a:solidFill>
                  <a:srgbClr val="FF0000"/>
                </a:solidFill>
              </a:rPr>
              <a:t> </a:t>
            </a:r>
            <a:r>
              <a:rPr lang="it-IT" sz="2800">
                <a:solidFill>
                  <a:schemeClr val="tx1"/>
                </a:solidFill>
              </a:rPr>
              <a:t>Introduzione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200">
                <a:solidFill>
                  <a:schemeClr val="tx1"/>
                </a:solidFill>
              </a:rPr>
              <a:t>Contesto e obiettivo dello studio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tx1"/>
                </a:solidFill>
              </a:rPr>
              <a:t> </a:t>
            </a:r>
            <a:r>
              <a:rPr lang="it-IT" sz="2800">
                <a:solidFill>
                  <a:schemeClr val="tx1"/>
                </a:solidFill>
              </a:rPr>
              <a:t>Metodologia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200">
                <a:solidFill>
                  <a:schemeClr val="tx1"/>
                </a:solidFill>
              </a:rPr>
              <a:t>Progettazione e costruzione del dataset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200">
                <a:solidFill>
                  <a:schemeClr val="tx1"/>
                </a:solidFill>
              </a:rPr>
              <a:t>Metriche considerate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200">
                <a:solidFill>
                  <a:schemeClr val="tx1"/>
                </a:solidFill>
              </a:rPr>
              <a:t>Metodologia di valutazione dei classificator</a:t>
            </a:r>
            <a:r>
              <a:rPr lang="it-IT" sz="2400">
                <a:solidFill>
                  <a:schemeClr val="tx1"/>
                </a:solidFill>
              </a:rPr>
              <a:t>i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800">
                <a:solidFill>
                  <a:schemeClr val="tx1"/>
                </a:solidFill>
              </a:rPr>
              <a:t> Risultati della misurazione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800">
                <a:solidFill>
                  <a:schemeClr val="tx1"/>
                </a:solidFill>
              </a:rPr>
              <a:t> Analisi dei risultati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800">
                <a:solidFill>
                  <a:schemeClr val="tx1"/>
                </a:solidFill>
              </a:rPr>
              <a:t> Link utili</a:t>
            </a:r>
          </a:p>
        </p:txBody>
      </p:sp>
      <p:sp>
        <p:nvSpPr>
          <p:cNvPr id="5" name="Segnaposto numero diapositiva 7">
            <a:extLst>
              <a:ext uri="{FF2B5EF4-FFF2-40B4-BE49-F238E27FC236}">
                <a16:creationId xmlns:a16="http://schemas.microsoft.com/office/drawing/2014/main" id="{0554F98C-C966-2E42-C3D4-8AE1CD10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2145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AA9BED-86F9-E444-DB98-D59E413B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/>
              <a:t>Contesto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6E8E33-29FC-F6CF-7D43-CAC3063B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Qualunque progetto nell’ambito dell’Ingegneria del Software prevede un’attività di testing che mira a far emergere e correggere eventuali bug del software.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Tuttavia l’attività di testing è costosa in termini ore-uomo, per cui non può essere effettuata in modo esaustivo.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È necessario individuare un sottoinsieme di classi del progetto su cui incentrare i test</a:t>
            </a:r>
            <a:r>
              <a:rPr lang="it-IT"/>
              <a:t>.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it-IT"/>
              <a:t>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F55C1EE-4312-5326-EE52-6CFE2DEA6603}"/>
              </a:ext>
            </a:extLst>
          </p:cNvPr>
          <p:cNvSpPr txBox="1"/>
          <p:nvPr/>
        </p:nvSpPr>
        <p:spPr>
          <a:xfrm>
            <a:off x="1371599" y="4763730"/>
            <a:ext cx="9247239" cy="1229826"/>
          </a:xfrm>
          <a:prstGeom prst="rect">
            <a:avLst/>
          </a:prstGeom>
          <a:solidFill>
            <a:schemeClr val="bg1"/>
          </a:solidFill>
          <a:ln w="508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b="1"/>
              <a:t>Problema: </a:t>
            </a:r>
            <a:r>
              <a:rPr lang="it-IT" sz="2400"/>
              <a:t>affinché l’attività di testing non perda di efficacia, è necessario individuare le classi che più verosimilmente contengono dei bug. Quale può essere un modo per identificarle? </a:t>
            </a:r>
          </a:p>
        </p:txBody>
      </p:sp>
      <p:sp>
        <p:nvSpPr>
          <p:cNvPr id="15" name="Segnaposto numero diapositiva 7">
            <a:extLst>
              <a:ext uri="{FF2B5EF4-FFF2-40B4-BE49-F238E27FC236}">
                <a16:creationId xmlns:a16="http://schemas.microsoft.com/office/drawing/2014/main" id="{DA59352A-DDFF-482C-B7DF-DED8285E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807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7671C6-904F-6957-67C3-C9F268C6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/>
              <a:t>Contesto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E5553A-E773-109F-EE1D-D45E444F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Per rispondere alla domanda precedente è opportuno avere un quadro completo di quali classi sono state caratterizzate da bug nel passato, e all’interno di quali release del progetto.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Con queste informazioni, è possibile sfruttare gli strumenti di Machine Learning per predire quali classi possono, attualmente, contenere dei difetti.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Non è necessario costruire un classificatore apposito per questo scopo. Piuttosto conviene utilizzare i classificatori e le tecniche già esistenti per effettuare la predizione.</a:t>
            </a:r>
          </a:p>
        </p:txBody>
      </p:sp>
      <p:sp>
        <p:nvSpPr>
          <p:cNvPr id="5" name="Segnaposto numero diapositiva 7">
            <a:extLst>
              <a:ext uri="{FF2B5EF4-FFF2-40B4-BE49-F238E27FC236}">
                <a16:creationId xmlns:a16="http://schemas.microsoft.com/office/drawing/2014/main" id="{220ED546-19E5-8EB6-034A-6E83574E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788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FF4AE8-47CD-2595-6498-0E7F300B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/>
              <a:t>Obiettivo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308F43-3446-17EE-5F13-994BB0386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2543"/>
            <a:ext cx="10244230" cy="392307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Dopo aver preso due progetti Apache (</a:t>
            </a:r>
            <a:r>
              <a:rPr lang="it-IT" sz="2400" b="1" err="1"/>
              <a:t>Bookkeeper</a:t>
            </a:r>
            <a:r>
              <a:rPr lang="it-IT" sz="2400"/>
              <a:t> e </a:t>
            </a:r>
            <a:r>
              <a:rPr lang="it-IT" sz="2400" b="1" err="1"/>
              <a:t>Openjpa</a:t>
            </a:r>
            <a:r>
              <a:rPr lang="it-IT" sz="2400"/>
              <a:t>), aver individuato quali classi sono state buggy e in quali release, e aver considerato tre classificatori (</a:t>
            </a:r>
            <a:r>
              <a:rPr lang="it-IT" sz="2400" b="1"/>
              <a:t>Random </a:t>
            </a:r>
            <a:r>
              <a:rPr lang="it-IT" sz="2400" b="1" err="1"/>
              <a:t>Forest</a:t>
            </a:r>
            <a:r>
              <a:rPr lang="it-IT" sz="2400"/>
              <a:t>, </a:t>
            </a:r>
            <a:r>
              <a:rPr lang="it-IT" sz="2400" b="1" err="1"/>
              <a:t>Naive</a:t>
            </a:r>
            <a:r>
              <a:rPr lang="it-IT" sz="2400" b="1"/>
              <a:t> </a:t>
            </a:r>
            <a:r>
              <a:rPr lang="it-IT" sz="2400" b="1" err="1"/>
              <a:t>Bayes</a:t>
            </a:r>
            <a:r>
              <a:rPr lang="it-IT" sz="2400" b="1"/>
              <a:t> </a:t>
            </a:r>
            <a:r>
              <a:rPr lang="it-IT" sz="2400"/>
              <a:t>e </a:t>
            </a:r>
            <a:r>
              <a:rPr lang="it-IT" sz="2400" b="1" err="1"/>
              <a:t>IBk</a:t>
            </a:r>
            <a:r>
              <a:rPr lang="it-IT" sz="2400"/>
              <a:t>), lo scopo finale sarà quello di stabilire quale classificatore effettua le predizioni migliori e con quali tecniche di utilizzo.</a:t>
            </a:r>
          </a:p>
          <a:p>
            <a:pPr marL="0" indent="0">
              <a:buClr>
                <a:schemeClr val="tx1"/>
              </a:buClr>
              <a:buNone/>
            </a:pPr>
            <a:endParaRPr lang="it-IT" sz="240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1D45661-89DC-C4FF-B657-B67C71C2C19D}"/>
              </a:ext>
            </a:extLst>
          </p:cNvPr>
          <p:cNvSpPr txBox="1"/>
          <p:nvPr/>
        </p:nvSpPr>
        <p:spPr>
          <a:xfrm>
            <a:off x="1309231" y="4041059"/>
            <a:ext cx="9247239" cy="830997"/>
          </a:xfrm>
          <a:prstGeom prst="rect">
            <a:avLst/>
          </a:prstGeom>
          <a:solidFill>
            <a:schemeClr val="bg1"/>
          </a:solidFill>
          <a:ln w="508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/>
              <a:t>Le tecniche di  utilizzo considerate sono la </a:t>
            </a:r>
            <a:r>
              <a:rPr lang="it-IT" sz="2400" b="1"/>
              <a:t>Feature </a:t>
            </a:r>
            <a:r>
              <a:rPr lang="it-IT" sz="2400" b="1" err="1"/>
              <a:t>Selection</a:t>
            </a:r>
            <a:r>
              <a:rPr lang="it-IT" sz="2400"/>
              <a:t>, il</a:t>
            </a:r>
            <a:r>
              <a:rPr lang="it-IT" sz="2400" b="1"/>
              <a:t> Sampling</a:t>
            </a:r>
            <a:r>
              <a:rPr lang="it-IT" sz="2400"/>
              <a:t>, la </a:t>
            </a:r>
            <a:r>
              <a:rPr lang="it-IT" sz="2400" b="1"/>
              <a:t>Cost-</a:t>
            </a:r>
            <a:r>
              <a:rPr lang="it-IT" sz="2400" b="1" err="1"/>
              <a:t>Sensitivity</a:t>
            </a:r>
            <a:r>
              <a:rPr lang="it-IT" sz="2400" b="1"/>
              <a:t> </a:t>
            </a:r>
            <a:r>
              <a:rPr lang="it-IT" sz="2400" b="1" err="1"/>
              <a:t>Classification</a:t>
            </a:r>
            <a:r>
              <a:rPr lang="it-IT" sz="2400" b="1"/>
              <a:t> </a:t>
            </a:r>
            <a:r>
              <a:rPr lang="it-IT" sz="2400"/>
              <a:t>ed alcune loro combinazioni.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1B75BE5-4F26-0673-58F4-87855577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901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43AF0-BB61-CE8E-9AB1-2CD3314E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7"/>
            <a:ext cx="10642436" cy="1450757"/>
          </a:xfrm>
        </p:spPr>
        <p:txBody>
          <a:bodyPr/>
          <a:lstStyle/>
          <a:p>
            <a:r>
              <a:rPr lang="it-IT" sz="6000"/>
              <a:t>Metodologia: </a:t>
            </a:r>
            <a:r>
              <a:rPr lang="it-IT" sz="3200"/>
              <a:t>come individuare le classi buggy?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033DC-CC2E-1E8A-AD25-68AB727F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1899734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600"/>
              <a:t> Ogni bug ha un ciclo di vita.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it-IT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it-IT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it-IT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it-IT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it-IT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600"/>
              <a:t> Le classi interessate dal bug risultano essere difettose dall’</a:t>
            </a:r>
            <a:r>
              <a:rPr lang="it-IT" sz="2600" err="1"/>
              <a:t>Injected</a:t>
            </a:r>
            <a:r>
              <a:rPr lang="it-IT" sz="2600"/>
              <a:t> Version inclusa fino alla </a:t>
            </a:r>
            <a:r>
              <a:rPr lang="it-IT" sz="2600" err="1"/>
              <a:t>Fixed</a:t>
            </a:r>
            <a:r>
              <a:rPr lang="it-IT" sz="2600"/>
              <a:t> Version esclusa.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600"/>
              <a:t> L’insieme di release che va dalla </a:t>
            </a:r>
            <a:r>
              <a:rPr lang="it-IT" sz="2600" err="1"/>
              <a:t>Injected</a:t>
            </a:r>
            <a:r>
              <a:rPr lang="it-IT" sz="2600"/>
              <a:t> Version alla </a:t>
            </a:r>
            <a:r>
              <a:rPr lang="it-IT" sz="2600" err="1"/>
              <a:t>Fixed</a:t>
            </a:r>
            <a:r>
              <a:rPr lang="it-IT" sz="2600"/>
              <a:t> Version è detto </a:t>
            </a:r>
            <a:r>
              <a:rPr lang="it-IT" sz="2600" b="1" err="1"/>
              <a:t>Affected</a:t>
            </a:r>
            <a:r>
              <a:rPr lang="it-IT" sz="2600" b="1"/>
              <a:t> Version (AV)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67E4BC07-10C9-4490-5A20-1B62D5A1CBB0}"/>
              </a:ext>
            </a:extLst>
          </p:cNvPr>
          <p:cNvSpPr/>
          <p:nvPr/>
        </p:nvSpPr>
        <p:spPr>
          <a:xfrm>
            <a:off x="1154083" y="2501358"/>
            <a:ext cx="10058400" cy="612000"/>
          </a:xfrm>
          <a:prstGeom prst="rightArrow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o di sottrazione 7">
            <a:extLst>
              <a:ext uri="{FF2B5EF4-FFF2-40B4-BE49-F238E27FC236}">
                <a16:creationId xmlns:a16="http://schemas.microsoft.com/office/drawing/2014/main" id="{940F901F-B431-C074-4C18-09FC9D8BA023}"/>
              </a:ext>
            </a:extLst>
          </p:cNvPr>
          <p:cNvSpPr/>
          <p:nvPr/>
        </p:nvSpPr>
        <p:spPr>
          <a:xfrm>
            <a:off x="2316000" y="2177358"/>
            <a:ext cx="7560000" cy="1260000"/>
          </a:xfrm>
          <a:prstGeom prst="mathMinus">
            <a:avLst/>
          </a:prstGeom>
          <a:solidFill>
            <a:srgbClr val="C0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egno di sottrazione 8">
            <a:extLst>
              <a:ext uri="{FF2B5EF4-FFF2-40B4-BE49-F238E27FC236}">
                <a16:creationId xmlns:a16="http://schemas.microsoft.com/office/drawing/2014/main" id="{3E7E26C4-C913-91AC-EF80-248536B0038B}"/>
              </a:ext>
            </a:extLst>
          </p:cNvPr>
          <p:cNvSpPr/>
          <p:nvPr/>
        </p:nvSpPr>
        <p:spPr>
          <a:xfrm rot="16200000">
            <a:off x="2714479" y="2700710"/>
            <a:ext cx="1194619" cy="278676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o di sottrazione 9">
            <a:extLst>
              <a:ext uri="{FF2B5EF4-FFF2-40B4-BE49-F238E27FC236}">
                <a16:creationId xmlns:a16="http://schemas.microsoft.com/office/drawing/2014/main" id="{6EB4B56B-6119-93E5-5E7E-6D74B2553881}"/>
              </a:ext>
            </a:extLst>
          </p:cNvPr>
          <p:cNvSpPr/>
          <p:nvPr/>
        </p:nvSpPr>
        <p:spPr>
          <a:xfrm rot="16200000">
            <a:off x="5529171" y="2700710"/>
            <a:ext cx="1194619" cy="278676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o di sottrazione 10">
            <a:extLst>
              <a:ext uri="{FF2B5EF4-FFF2-40B4-BE49-F238E27FC236}">
                <a16:creationId xmlns:a16="http://schemas.microsoft.com/office/drawing/2014/main" id="{D5FCA800-AD87-A89C-72DD-6FFB88FF7995}"/>
              </a:ext>
            </a:extLst>
          </p:cNvPr>
          <p:cNvSpPr/>
          <p:nvPr/>
        </p:nvSpPr>
        <p:spPr>
          <a:xfrm rot="16200000">
            <a:off x="8282904" y="2692353"/>
            <a:ext cx="1194619" cy="278676"/>
          </a:xfrm>
          <a:prstGeom prst="mathMin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1317082-D758-EB02-1ED3-EA5B5F712FE7}"/>
              </a:ext>
            </a:extLst>
          </p:cNvPr>
          <p:cNvSpPr txBox="1"/>
          <p:nvPr/>
        </p:nvSpPr>
        <p:spPr>
          <a:xfrm>
            <a:off x="1911676" y="3299693"/>
            <a:ext cx="2772226" cy="923330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err="1"/>
              <a:t>Injected</a:t>
            </a:r>
            <a:r>
              <a:rPr lang="it-IT" b="1"/>
              <a:t> Version (IV)</a:t>
            </a:r>
          </a:p>
          <a:p>
            <a:pPr algn="ctr"/>
            <a:r>
              <a:rPr lang="it-IT"/>
              <a:t>release in cui il bug è stato introdotto nel sistema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588A567-5FE9-DD51-F677-9ED30217254B}"/>
              </a:ext>
            </a:extLst>
          </p:cNvPr>
          <p:cNvSpPr txBox="1"/>
          <p:nvPr/>
        </p:nvSpPr>
        <p:spPr>
          <a:xfrm>
            <a:off x="5000566" y="3282978"/>
            <a:ext cx="2251827" cy="923330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/>
              <a:t>Opening Version (OV)</a:t>
            </a:r>
          </a:p>
          <a:p>
            <a:pPr algn="ctr"/>
            <a:r>
              <a:rPr lang="it-IT"/>
              <a:t>release in cui il bug è stato rilevato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CD583EE-E703-51C3-8286-744108543C92}"/>
              </a:ext>
            </a:extLst>
          </p:cNvPr>
          <p:cNvSpPr txBox="1"/>
          <p:nvPr/>
        </p:nvSpPr>
        <p:spPr>
          <a:xfrm>
            <a:off x="7766267" y="3292745"/>
            <a:ext cx="2251827" cy="923330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err="1"/>
              <a:t>Fixed</a:t>
            </a:r>
            <a:r>
              <a:rPr lang="it-IT" b="1"/>
              <a:t> Version (FV)</a:t>
            </a:r>
          </a:p>
          <a:p>
            <a:pPr algn="ctr"/>
            <a:r>
              <a:rPr lang="it-IT"/>
              <a:t>release in cui il bug è stato risolto</a:t>
            </a:r>
          </a:p>
        </p:txBody>
      </p:sp>
      <p:sp>
        <p:nvSpPr>
          <p:cNvPr id="15" name="Segnaposto numero diapositiva 7">
            <a:extLst>
              <a:ext uri="{FF2B5EF4-FFF2-40B4-BE49-F238E27FC236}">
                <a16:creationId xmlns:a16="http://schemas.microsoft.com/office/drawing/2014/main" id="{9583DF5A-324E-F78F-78D6-384913EF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346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6CCB5B-5E53-1BD3-2923-EF613209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6700"/>
              <a:t>Metodologia</a:t>
            </a:r>
            <a:r>
              <a:rPr lang="it-IT" sz="8800"/>
              <a:t>:</a:t>
            </a:r>
            <a:r>
              <a:rPr lang="it-IT" sz="3600"/>
              <a:t> come individuare le classi buggy?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87AC5B-B813-AD2F-1381-0E383192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 I due progetti considerati utilizzano il sistema di </a:t>
            </a:r>
            <a:r>
              <a:rPr lang="it-IT" sz="2400" err="1"/>
              <a:t>issue</a:t>
            </a:r>
            <a:r>
              <a:rPr lang="it-IT" sz="2400"/>
              <a:t> tracking </a:t>
            </a:r>
            <a:r>
              <a:rPr lang="it-IT" sz="2400" err="1"/>
              <a:t>Jira</a:t>
            </a:r>
            <a:r>
              <a:rPr lang="it-IT" sz="2400"/>
              <a:t>, che riporta informazioni riguardanti tutti i bug scoperti nel sistema e la loro risoluzione in dei ticket.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it-IT" sz="2400"/>
              <a:t> I valori di OV e di FV sono sempre riportati dai ticket </a:t>
            </a:r>
            <a:r>
              <a:rPr lang="it-IT" sz="2400" err="1"/>
              <a:t>Jira</a:t>
            </a:r>
            <a:r>
              <a:rPr lang="it-IT" sz="2400"/>
              <a:t>, dal momento che indicano la creazione e la risoluzione del ticket stesso.</a:t>
            </a:r>
          </a:p>
          <a:p>
            <a:pPr marL="0" indent="0">
              <a:buClr>
                <a:schemeClr val="tx1"/>
              </a:buClr>
              <a:buNone/>
            </a:pP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7EFA057-BD07-BA56-5074-22B2C7D97875}"/>
              </a:ext>
            </a:extLst>
          </p:cNvPr>
          <p:cNvSpPr txBox="1"/>
          <p:nvPr/>
        </p:nvSpPr>
        <p:spPr>
          <a:xfrm>
            <a:off x="1472380" y="4100053"/>
            <a:ext cx="9247239" cy="830997"/>
          </a:xfrm>
          <a:prstGeom prst="rect">
            <a:avLst/>
          </a:prstGeom>
          <a:solidFill>
            <a:schemeClr val="bg1"/>
          </a:solidFill>
          <a:ln w="508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b="1"/>
              <a:t>Problema: </a:t>
            </a:r>
            <a:r>
              <a:rPr lang="it-IT" sz="2400"/>
              <a:t>non tutti i ticket </a:t>
            </a:r>
            <a:r>
              <a:rPr lang="it-IT" sz="2400" err="1"/>
              <a:t>Jira</a:t>
            </a:r>
            <a:r>
              <a:rPr lang="it-IT" sz="2400"/>
              <a:t> contengono l’indicazione relativa alla </a:t>
            </a:r>
            <a:r>
              <a:rPr lang="it-IT" sz="2400" err="1"/>
              <a:t>Injected</a:t>
            </a:r>
            <a:r>
              <a:rPr lang="it-IT" sz="2400"/>
              <a:t> Version, che è però necessaria per il </a:t>
            </a:r>
            <a:r>
              <a:rPr lang="it-IT" sz="2400" err="1"/>
              <a:t>labeling</a:t>
            </a:r>
            <a:r>
              <a:rPr lang="it-IT" sz="2400"/>
              <a:t> delle classi.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0D6A1845-7629-0003-8DE6-83E5FF0A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7519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045D99-1A5E-1DE8-D4F7-D3C0D072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700"/>
              <a:t>Metodologia:</a:t>
            </a:r>
            <a:r>
              <a:rPr lang="it-IT" sz="3200"/>
              <a:t> come individuare le classi buggy?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5869C0-4250-02FD-846B-4A18B0408A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845734"/>
                <a:ext cx="9787031" cy="4023360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400"/>
                  <a:t> </a:t>
                </a:r>
                <a:r>
                  <a:rPr lang="it-IT" sz="2400" b="1"/>
                  <a:t>Idea: </a:t>
                </a:r>
                <a:r>
                  <a:rPr lang="it-IT" sz="2400"/>
                  <a:t>è possibile assumere che esista una proporzionalità fissa tra l’intervallo di tempo che trascorre da quando un bug viene rilevato a quando viene risolto (OV, FV) e tra l’intervallo di tempo che trascorre da quando un bug viene introdotto a quando viene risolto (IV, FV).</a:t>
                </a:r>
              </a:p>
              <a:p>
                <a:pPr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400"/>
                  <a:t> La tecnica per stimare l’</a:t>
                </a:r>
                <a:r>
                  <a:rPr lang="it-IT" sz="2400" err="1"/>
                  <a:t>Injected</a:t>
                </a:r>
                <a:r>
                  <a:rPr lang="it-IT" sz="2400"/>
                  <a:t> Version dei bug è detta </a:t>
                </a:r>
                <a:r>
                  <a:rPr lang="it-IT" sz="2400" b="1" err="1"/>
                  <a:t>Proportion</a:t>
                </a:r>
                <a:r>
                  <a:rPr lang="it-IT" sz="2400"/>
                  <a:t>: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000"/>
                  <a:t>Per tutti i ticket con IV nota viene definita una costante di proporzionalità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it-IT" sz="2000"/>
                  <a:t>: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000"/>
                  <a:t>Per tutti gli altri ticket il valore di IV viene calcolato nel seguente modo: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pPr marL="201168" lvl="1" indent="0">
                  <a:buClr>
                    <a:schemeClr val="tx1"/>
                  </a:buClr>
                  <a:buNone/>
                </a:pPr>
                <a:endParaRPr lang="it-IT"/>
              </a:p>
              <a:p>
                <a:pPr marL="201168" lvl="1" indent="0">
                  <a:buClr>
                    <a:schemeClr val="tx1"/>
                  </a:buClr>
                  <a:buNone/>
                </a:pPr>
                <a:endParaRPr lang="it-IT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5869C0-4250-02FD-846B-4A18B0408A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845734"/>
                <a:ext cx="9787031" cy="4023360"/>
              </a:xfrm>
              <a:blipFill>
                <a:blip r:embed="rId2"/>
                <a:stretch>
                  <a:fillRect l="-1745" t="-2121" r="-24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3D80D41-20D3-F17B-3A8D-02BE13409F3C}"/>
                  </a:ext>
                </a:extLst>
              </p:cNvPr>
              <p:cNvSpPr txBox="1"/>
              <p:nvPr/>
            </p:nvSpPr>
            <p:spPr>
              <a:xfrm>
                <a:off x="4760865" y="4051326"/>
                <a:ext cx="2459856" cy="899157"/>
              </a:xfrm>
              <a:prstGeom prst="rect">
                <a:avLst/>
              </a:prstGeom>
              <a:noFill/>
              <a:ln w="41275">
                <a:solidFill>
                  <a:srgbClr val="63A537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num>
                        <m:den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𝑂𝑉</m:t>
                          </m:r>
                        </m:den>
                      </m:f>
                    </m:oMath>
                  </m:oMathPara>
                </a14:m>
                <a:endParaRPr lang="it-IT" sz="280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3D80D41-20D3-F17B-3A8D-02BE13409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65" y="4051326"/>
                <a:ext cx="2459856" cy="899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41275">
                <a:solidFill>
                  <a:srgbClr val="63A537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30D80D06-AA4E-3A44-ABE1-90EC1694D702}"/>
                  </a:ext>
                </a:extLst>
              </p:cNvPr>
              <p:cNvSpPr txBox="1"/>
              <p:nvPr/>
            </p:nvSpPr>
            <p:spPr>
              <a:xfrm>
                <a:off x="4097112" y="5454248"/>
                <a:ext cx="4058736" cy="523220"/>
              </a:xfrm>
              <a:prstGeom prst="rect">
                <a:avLst/>
              </a:prstGeom>
              <a:noFill/>
              <a:ln w="41275">
                <a:solidFill>
                  <a:srgbClr val="63A537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𝐹𝑉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it-IT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𝐹𝑉</m:t>
                        </m:r>
                        <m:r>
                          <a:rPr lang="it-IT" sz="28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it-IT" sz="2800" b="0" i="0" smtClean="0">
                            <a:latin typeface="Cambria Math" panose="02040503050406030204" pitchFamily="18" charset="0"/>
                          </a:rPr>
                          <m:t>OV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it-IT" sz="2800"/>
                  <a:t> </a:t>
                </a:r>
                <a14:m>
                  <m:oMath xmlns:m="http://schemas.openxmlformats.org/officeDocument/2006/math">
                    <m:r>
                      <a:rPr lang="it-IT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it-IT" sz="280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30D80D06-AA4E-3A44-ABE1-90EC1694D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112" y="5454248"/>
                <a:ext cx="40587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41275">
                <a:solidFill>
                  <a:srgbClr val="63A537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egnaposto numero diapositiva 7">
            <a:extLst>
              <a:ext uri="{FF2B5EF4-FFF2-40B4-BE49-F238E27FC236}">
                <a16:creationId xmlns:a16="http://schemas.microsoft.com/office/drawing/2014/main" id="{9A1F09E6-F7FB-8352-5E09-298F41E7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0494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B585E9-2F5C-A9DE-0C8A-3783886D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6000"/>
              <a:t>Metodologia: </a:t>
            </a:r>
            <a:r>
              <a:rPr lang="it-IT" sz="3200"/>
              <a:t>come individuare le classi buggy?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9D73B9A-461C-F852-6217-32D0BD4DA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57081"/>
                <a:ext cx="10058400" cy="4885266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400"/>
                  <a:t> Esistono diverse varianti per il calcolo di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it-IT" sz="2400"/>
                  <a:t> </a:t>
                </a:r>
              </a:p>
              <a:p>
                <a:pPr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400"/>
                  <a:t>Per questo progetto è stata scelta la variante </a:t>
                </a:r>
                <a:r>
                  <a:rPr lang="it-IT" sz="2400" b="1" err="1"/>
                  <a:t>cold</a:t>
                </a:r>
                <a:r>
                  <a:rPr lang="it-IT" sz="2400" b="1"/>
                  <a:t>-start</a:t>
                </a:r>
                <a:r>
                  <a:rPr lang="it-IT" sz="2400"/>
                  <a:t>: 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/>
                  <a:t>Per un certo numero 𝑘 di progetti simili viene calcolato un valore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it-IT" sz="2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it-IT" sz="2200" dirty="0"/>
                      <m:t>∀</m:t>
                    </m:r>
                    <m:r>
                      <m:rPr>
                        <m:nor/>
                      </m:rPr>
                      <a:rPr lang="it-IT" sz="2200" b="0" i="0" dirty="0" smtClean="0"/>
                      <m:t> </m:t>
                    </m:r>
                    <m:r>
                      <m:rPr>
                        <m:nor/>
                      </m:rPr>
                      <a:rPr lang="it-IT" sz="2200" dirty="0" smtClean="0"/>
                      <m:t>𝑖</m:t>
                    </m:r>
                    <m:r>
                      <a:rPr lang="it-IT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it-IT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it-IT" sz="2200" dirty="0"/>
                      <m:t>1,</m:t>
                    </m:r>
                    <m:r>
                      <m:rPr>
                        <m:nor/>
                      </m:rPr>
                      <a:rPr lang="it-IT" sz="2200" b="0" i="0" dirty="0" smtClean="0"/>
                      <m:t> </m:t>
                    </m:r>
                    <m:r>
                      <m:rPr>
                        <m:nor/>
                      </m:rPr>
                      <a:rPr lang="it-IT" sz="2200" dirty="0"/>
                      <m:t>…,</m:t>
                    </m:r>
                    <m:r>
                      <m:rPr>
                        <m:nor/>
                      </m:rPr>
                      <a:rPr lang="it-IT" sz="2200" b="0" i="0" dirty="0" smtClean="0"/>
                      <m:t> </m:t>
                    </m:r>
                    <m:r>
                      <m:rPr>
                        <m:nor/>
                      </m:rPr>
                      <a:rPr lang="it-IT" sz="2200" dirty="0"/>
                      <m:t>𝑘</m:t>
                    </m:r>
                    <m:r>
                      <m:rPr>
                        <m:nor/>
                      </m:rPr>
                      <a:rPr lang="it-IT" sz="2200" b="0" i="0" dirty="0" smtClean="0"/>
                      <m:t>}, </m:t>
                    </m:r>
                    <m:r>
                      <m:rPr>
                        <m:nor/>
                      </m:rPr>
                      <a:rPr lang="it-IT" sz="2200" b="0" i="0" dirty="0" smtClean="0"/>
                      <m:t>che</m:t>
                    </m:r>
                    <m:r>
                      <m:rPr>
                        <m:nor/>
                      </m:rPr>
                      <a:rPr lang="it-IT" sz="2200" b="0" i="0" dirty="0" smtClean="0"/>
                      <m:t> </m:t>
                    </m:r>
                    <m:r>
                      <m:rPr>
                        <m:nor/>
                      </m:rPr>
                      <a:rPr lang="it-IT" sz="2200" b="0" i="0" dirty="0" smtClean="0"/>
                      <m:t>r</m:t>
                    </m:r>
                  </m:oMath>
                </a14:m>
                <a:r>
                  <a:rPr lang="it-IT" sz="2200"/>
                  <a:t>appresenta il valore medio di </a:t>
                </a:r>
                <a:r>
                  <a:rPr lang="it-IT" sz="2200" err="1"/>
                  <a:t>proportion</a:t>
                </a:r>
                <a:r>
                  <a:rPr lang="it-IT" sz="2200"/>
                  <a:t> per ogni progetto considerato.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/>
                  <a:t>Il valore di 𝑝 utilizzato nel progetto di interesse è la mediana di tutti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200"/>
              </a:p>
              <a:p>
                <a:pPr marL="201168" lvl="1" indent="0">
                  <a:buClr>
                    <a:schemeClr val="tx1"/>
                  </a:buClr>
                  <a:buNone/>
                </a:pPr>
                <a:endParaRPr lang="it-IT" sz="2400"/>
              </a:p>
              <a:p>
                <a:pPr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400"/>
                  <a:t> </a:t>
                </a:r>
                <a:r>
                  <a:rPr lang="it-IT" sz="2600"/>
                  <a:t>In questo caso i progetti considerati per il calcolo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600"/>
                  <a:t> sono alcuni progetti sviluppati dalla stessa Apache: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 err="1"/>
                  <a:t>Avro</a:t>
                </a:r>
                <a:endParaRPr lang="it-IT" sz="2200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 err="1"/>
                  <a:t>Storm</a:t>
                </a:r>
                <a:endParaRPr lang="it-IT" sz="2200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 err="1"/>
                  <a:t>Zookeeper</a:t>
                </a:r>
                <a:endParaRPr lang="it-IT" sz="2200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 err="1"/>
                  <a:t>Syncope</a:t>
                </a:r>
                <a:endParaRPr lang="it-IT" sz="2200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 err="1"/>
                  <a:t>Tajo</a:t>
                </a:r>
                <a:endParaRPr lang="it-IT" sz="2200"/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 err="1"/>
                  <a:t>OpenJPA</a:t>
                </a:r>
                <a:r>
                  <a:rPr lang="it-IT" sz="2200"/>
                  <a:t> </a:t>
                </a:r>
                <a:r>
                  <a:rPr lang="it-IT" sz="1700"/>
                  <a:t>(verrebbe escluso qualora il progetto di interesse fosse </a:t>
                </a:r>
                <a:r>
                  <a:rPr lang="it-IT" sz="1700" err="1"/>
                  <a:t>OpenJPA</a:t>
                </a:r>
                <a:r>
                  <a:rPr lang="it-IT" sz="1700"/>
                  <a:t> stesso)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it-IT" sz="2200" err="1"/>
                  <a:t>Bookkeeper</a:t>
                </a:r>
                <a:r>
                  <a:rPr lang="it-IT" sz="2200"/>
                  <a:t>  </a:t>
                </a:r>
                <a:r>
                  <a:rPr lang="it-IT" sz="1700"/>
                  <a:t>(verrebbe escluso qualora il progetto di interesse fosse </a:t>
                </a:r>
                <a:r>
                  <a:rPr lang="it-IT" sz="1700" err="1"/>
                  <a:t>Bookkeeper</a:t>
                </a:r>
                <a:r>
                  <a:rPr lang="it-IT" sz="1700"/>
                  <a:t> stesso)</a:t>
                </a:r>
              </a:p>
              <a:p>
                <a:pPr lvl="1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it-IT"/>
              </a:p>
              <a:p>
                <a:endParaRPr lang="it-IT"/>
              </a:p>
              <a:p>
                <a:endParaRPr lang="it-IT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9D73B9A-461C-F852-6217-32D0BD4DA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57081"/>
                <a:ext cx="10058400" cy="4885266"/>
              </a:xfrm>
              <a:blipFill>
                <a:blip r:embed="rId2"/>
                <a:stretch>
                  <a:fillRect l="-1576" t="-26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7">
            <a:extLst>
              <a:ext uri="{FF2B5EF4-FFF2-40B4-BE49-F238E27FC236}">
                <a16:creationId xmlns:a16="http://schemas.microsoft.com/office/drawing/2014/main" id="{F2CF8D61-28D6-BA15-F522-E5B22B26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27609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6BE7F-20AA-1DE1-E5A9-C8E37D10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2EEE9-930C-4925-AB76-E4D58962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>
                <a:ea typeface="Calibri Light"/>
                <a:cs typeface="Calibri Light"/>
              </a:rPr>
              <a:t>Metodologia:</a:t>
            </a:r>
            <a:r>
              <a:rPr lang="it-IT" sz="3200">
                <a:ea typeface="Calibri Light"/>
                <a:cs typeface="Calibri Light"/>
              </a:rPr>
              <a:t> come individuare le classi buggy?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FDB523-6241-1444-FA09-D54F43022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it-IT" sz="24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Una volta ottenuto il valore di IV per ogni ticket, è possibile effettuare il </a:t>
            </a:r>
            <a:r>
              <a:rPr lang="it-IT" sz="2400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labeling</a:t>
            </a:r>
            <a:r>
              <a:rPr lang="it-IT" sz="24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delle classi, attraverso l'analisi dei </a:t>
            </a:r>
            <a:r>
              <a:rPr lang="it-IT" sz="2400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commit</a:t>
            </a:r>
            <a:r>
              <a:rPr lang="it-IT" sz="24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associati ai ticket.</a:t>
            </a:r>
          </a:p>
          <a:p>
            <a:pPr>
              <a:buFont typeface="Arial"/>
              <a:buChar char="•"/>
            </a:pPr>
            <a:r>
              <a:rPr lang="it-IT" sz="24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Per ogni ticket: </a:t>
            </a:r>
          </a:p>
          <a:p>
            <a:pPr marL="383540" lvl="1">
              <a:buFont typeface="Arial"/>
              <a:buChar char="•"/>
            </a:pPr>
            <a:r>
              <a:rPr lang="it-IT" sz="22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Vengono individuati i </a:t>
            </a:r>
            <a:r>
              <a:rPr lang="it-IT" sz="2200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commit</a:t>
            </a:r>
            <a:r>
              <a:rPr lang="it-IT" sz="22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associati ai ticket;</a:t>
            </a:r>
          </a:p>
          <a:p>
            <a:pPr marL="383540" lvl="1">
              <a:buFont typeface="Arial"/>
              <a:buChar char="•"/>
            </a:pPr>
            <a:r>
              <a:rPr lang="it-IT" sz="22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Vengono individuate le classi modificate in ogni </a:t>
            </a:r>
            <a:r>
              <a:rPr lang="it-IT" sz="2200" err="1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commit</a:t>
            </a:r>
            <a:r>
              <a:rPr lang="it-IT" sz="2200">
                <a:solidFill>
                  <a:srgbClr val="404040"/>
                </a:solidFill>
                <a:ea typeface="Calibri" panose="020F0502020204030204"/>
                <a:cs typeface="Calibri" panose="020F0502020204030204"/>
              </a:rPr>
              <a:t> associato ai ticket</a:t>
            </a:r>
          </a:p>
          <a:p>
            <a:pPr marL="383540" lvl="1">
              <a:buFont typeface="Arial"/>
              <a:buChar char="•"/>
            </a:pPr>
            <a:r>
              <a:rPr lang="it-IT" sz="2200">
                <a:ea typeface="Calibri" panose="020F0502020204030204"/>
                <a:cs typeface="Calibri" panose="020F0502020204030204"/>
              </a:rPr>
              <a:t> Ciascuna delle classi modificate è buggy se appartiene ad una release che è compresa nell'intervallo [IV, FV)</a:t>
            </a:r>
          </a:p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9BDA7546-A347-B0B8-F246-3DDF52A3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098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C7A6-2C36-34D6-AC17-6C4DCF64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9ACC0A-B187-1496-AE01-E23F696A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>
                <a:ea typeface="Calibri Light"/>
                <a:cs typeface="Calibri Light"/>
              </a:rPr>
              <a:t>Metodologia:</a:t>
            </a:r>
            <a:r>
              <a:rPr lang="it-IT" sz="3200">
                <a:ea typeface="Calibri Light"/>
                <a:cs typeface="Calibri Light"/>
              </a:rPr>
              <a:t> alcune assunzioni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BCDB93-9B32-DE19-352B-F82FADEBA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807F341F-B3E5-E7C3-8E43-9B8E241C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11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B71FB025-33E6-D0FE-7B0F-84CEC6F13EF6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it-IT" sz="2400">
                <a:ea typeface="+mn-lt"/>
                <a:cs typeface="+mn-lt"/>
              </a:rPr>
              <a:t> Per implementare il meccanismo di calcolo del valore di </a:t>
            </a:r>
            <a:r>
              <a:rPr lang="it-IT" sz="2400" err="1">
                <a:ea typeface="+mn-lt"/>
                <a:cs typeface="+mn-lt"/>
              </a:rPr>
              <a:t>proportion</a:t>
            </a:r>
            <a:r>
              <a:rPr lang="it-IT" sz="2400">
                <a:ea typeface="+mn-lt"/>
                <a:cs typeface="+mn-lt"/>
              </a:rPr>
              <a:t> e di </a:t>
            </a:r>
            <a:r>
              <a:rPr lang="it-IT" sz="2400" err="1">
                <a:ea typeface="+mn-lt"/>
                <a:cs typeface="+mn-lt"/>
              </a:rPr>
              <a:t>labeling</a:t>
            </a:r>
            <a:r>
              <a:rPr lang="it-IT" sz="2400">
                <a:ea typeface="+mn-lt"/>
                <a:cs typeface="+mn-lt"/>
              </a:rPr>
              <a:t> delle classi, si è reso necessario adottare alcune assunzioni:</a:t>
            </a: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Arial"/>
              <a:buChar char="•"/>
            </a:pPr>
            <a:r>
              <a:rPr lang="it-IT" sz="2200">
                <a:ea typeface="Calibri" panose="020F0502020204030204"/>
                <a:cs typeface="Calibri" panose="020F0502020204030204"/>
              </a:rPr>
              <a:t>Per evitare il problema dello </a:t>
            </a:r>
            <a:r>
              <a:rPr lang="it-IT" sz="2200" err="1">
                <a:ea typeface="Calibri" panose="020F0502020204030204"/>
                <a:cs typeface="Calibri" panose="020F0502020204030204"/>
              </a:rPr>
              <a:t>snoring</a:t>
            </a:r>
            <a:r>
              <a:rPr lang="it-IT" sz="2200">
                <a:ea typeface="Calibri" panose="020F0502020204030204"/>
                <a:cs typeface="Calibri" panose="020F0502020204030204"/>
              </a:rPr>
              <a:t> (bug presenti ma non ancora scoperti) è stata scartata la seconda metà delle release poiché è molto probabile che i bug presenti nella prima metà siano stati scoperti e risolti.</a:t>
            </a:r>
          </a:p>
          <a:p>
            <a:pPr marL="383540" lvl="1">
              <a:buFont typeface="Arial"/>
              <a:buChar char="•"/>
            </a:pPr>
            <a:r>
              <a:rPr lang="it-IT" sz="2200">
                <a:ea typeface="Calibri" panose="020F0502020204030204"/>
                <a:cs typeface="Calibri" panose="020F0502020204030204"/>
              </a:rPr>
              <a:t> Per i ticket che riportano il valore di AV sono stati considerati solo quelli con AV consistente</a:t>
            </a:r>
          </a:p>
          <a:p>
            <a:pPr marL="383540" lvl="1">
              <a:buFont typeface="Arial"/>
              <a:buChar char="•"/>
            </a:pPr>
            <a:r>
              <a:rPr lang="it-IT" sz="2200">
                <a:ea typeface="Calibri" panose="020F0502020204030204"/>
                <a:cs typeface="Calibri" panose="020F0502020204030204"/>
              </a:rPr>
              <a:t> Nel calcolo di </a:t>
            </a:r>
            <a:r>
              <a:rPr lang="it-IT" sz="2200" err="1">
                <a:ea typeface="Calibri" panose="020F0502020204030204"/>
                <a:cs typeface="Calibri" panose="020F0502020204030204"/>
              </a:rPr>
              <a:t>proportion</a:t>
            </a:r>
            <a:r>
              <a:rPr lang="it-IT" sz="2200">
                <a:ea typeface="Calibri" panose="020F0502020204030204"/>
                <a:cs typeface="Calibri" panose="020F0502020204030204"/>
              </a:rPr>
              <a:t>, in caso di OV = FV, è stato considerato FV – OV = 1 </a:t>
            </a:r>
          </a:p>
          <a:p>
            <a:pPr marL="749300" lvl="3">
              <a:buFont typeface="Arial"/>
              <a:buChar char="•"/>
            </a:pPr>
            <a:r>
              <a:rPr lang="it-IT" sz="1800">
                <a:ea typeface="Calibri" panose="020F0502020204030204"/>
                <a:cs typeface="Calibri" panose="020F0502020204030204"/>
              </a:rPr>
              <a:t>Per evitare denominatori uguali a 0;</a:t>
            </a:r>
          </a:p>
          <a:p>
            <a:pPr marL="749300" lvl="3">
              <a:buFont typeface="Arial"/>
              <a:buChar char="•"/>
            </a:pPr>
            <a:r>
              <a:rPr lang="it-IT" sz="1800">
                <a:ea typeface="Calibri" panose="020F0502020204030204"/>
                <a:cs typeface="Calibri" panose="020F0502020204030204"/>
              </a:rPr>
              <a:t>Per la realistica assunzione che non è detto che un bug scoperto e risolto nella stessa release sia stato introdotto nel sistema effettivamente in quella release; per questo motivo si può assumere che sia stato introdotto almeno nella release precedente.</a:t>
            </a:r>
          </a:p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5948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29B6-73A7-970B-DE8C-6DEDBCD8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DFD21B-95F1-4EBC-5C61-324781D93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>
                <a:ea typeface="Calibri Light"/>
                <a:cs typeface="Calibri Light"/>
              </a:rPr>
              <a:t>Metodologia:</a:t>
            </a:r>
            <a:r>
              <a:rPr lang="it-IT" sz="3200">
                <a:ea typeface="Calibri Light"/>
                <a:cs typeface="Calibri Light"/>
              </a:rPr>
              <a:t> costruzione del dataset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C0EA87-D34E-0524-1940-AC4BFF88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DEEB8160-18C1-D839-F2A3-E1998A3B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12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FDEF2C82-E3E3-6A99-2112-9CDB557FA3BC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it-IT" sz="2400">
                <a:ea typeface="+mn-lt"/>
                <a:cs typeface="+mn-lt"/>
              </a:rPr>
              <a:t> Oltre alla </a:t>
            </a:r>
            <a:r>
              <a:rPr lang="it-IT" sz="2400" err="1">
                <a:ea typeface="+mn-lt"/>
                <a:cs typeface="+mn-lt"/>
              </a:rPr>
              <a:t>buggyness</a:t>
            </a:r>
            <a:r>
              <a:rPr lang="it-IT" sz="2400">
                <a:ea typeface="+mn-lt"/>
                <a:cs typeface="+mn-lt"/>
              </a:rPr>
              <a:t> sono state considerate altre metriche per poter generare buoni dataset per il training dei classificatori.</a:t>
            </a:r>
            <a:endParaRPr lang="it-IT" sz="240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it-IT" sz="2400">
                <a:ea typeface="Calibri" panose="020F0502020204030204"/>
                <a:cs typeface="Calibri" panose="020F0502020204030204"/>
              </a:rPr>
              <a:t> L'introduzione di ulteriori metriche è necessaria per fornire maggiori informazioni riguardo la classe ai classificatori, in modo da renderli più accurati</a:t>
            </a:r>
          </a:p>
          <a:p>
            <a:pPr>
              <a:buFont typeface="Arial"/>
              <a:buChar char="•"/>
            </a:pPr>
            <a:r>
              <a:rPr lang="it-IT" sz="2400">
                <a:ea typeface="Calibri" panose="020F0502020204030204"/>
                <a:cs typeface="Calibri" panose="020F0502020204030204"/>
              </a:rPr>
              <a:t> Il dataset così ottenuto contiene come feature le informazioni riguardanti la classe (nome, release), le varie metriche aggiuntive ed il valore di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buggyness</a:t>
            </a:r>
            <a:r>
              <a:rPr lang="it-IT" sz="2400">
                <a:ea typeface="Calibri" panose="020F0502020204030204"/>
                <a:cs typeface="Calibri" panose="020F0502020204030204"/>
              </a:rPr>
              <a:t> da predire</a:t>
            </a: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77855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6883B-D774-6D28-289A-5DC199D9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4857E5-1928-0421-AF2F-E3EB0AE9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>
                <a:ea typeface="Calibri Light"/>
                <a:cs typeface="Calibri Light"/>
              </a:rPr>
              <a:t>Metodologia:</a:t>
            </a:r>
            <a:r>
              <a:rPr lang="it-IT" sz="3200">
                <a:ea typeface="Calibri Light"/>
                <a:cs typeface="Calibri Light"/>
              </a:rPr>
              <a:t> costruzione del dataset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0D8646-C8B0-2953-A40B-DF20F57D1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20340BD8-2BA5-22EE-CEBA-99D57334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/>
              <a:t>13</a:t>
            </a:r>
            <a:endParaRPr lang="en-US" sz="3200">
              <a:ea typeface="Calibri"/>
              <a:cs typeface="Calibri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44519AC-6D22-5659-6CA2-9D51FE1A1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834419"/>
              </p:ext>
            </p:extLst>
          </p:nvPr>
        </p:nvGraphicFramePr>
        <p:xfrm>
          <a:off x="1101810" y="2028567"/>
          <a:ext cx="10074108" cy="40998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8155">
                  <a:extLst>
                    <a:ext uri="{9D8B030D-6E8A-4147-A177-3AD203B41FA5}">
                      <a16:colId xmlns:a16="http://schemas.microsoft.com/office/drawing/2014/main" val="1141473454"/>
                    </a:ext>
                  </a:extLst>
                </a:gridCol>
                <a:gridCol w="7355953">
                  <a:extLst>
                    <a:ext uri="{9D8B030D-6E8A-4147-A177-3AD203B41FA5}">
                      <a16:colId xmlns:a16="http://schemas.microsoft.com/office/drawing/2014/main" val="1944389696"/>
                    </a:ext>
                  </a:extLst>
                </a:gridCol>
              </a:tblGrid>
              <a:tr h="372717">
                <a:tc>
                  <a:txBody>
                    <a:bodyPr/>
                    <a:lstStyle/>
                    <a:p>
                      <a:r>
                        <a:rPr lang="it-IT" b="1">
                          <a:solidFill>
                            <a:srgbClr val="000000"/>
                          </a:solidFill>
                        </a:rPr>
                        <a:t> 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/>
                        <a:t>Descrizione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31737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>
                          <a:latin typeface="Calibri"/>
                        </a:rPr>
                        <a:t>Numero di linee di codice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565780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/>
                        <a:t>LOC </a:t>
                      </a:r>
                      <a:r>
                        <a:rPr lang="it-IT" err="1"/>
                        <a:t>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Somma delle linee di codice aggiunte sulle revisioni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881492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/>
                        <a:t>LOC </a:t>
                      </a:r>
                      <a:r>
                        <a:rPr lang="it-IT" err="1"/>
                        <a:t>Touched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Somma delle linee di codice aggiunte ed eliminate sulle revisioni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64787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/>
                        <a:t>Max LOC </a:t>
                      </a:r>
                      <a:r>
                        <a:rPr lang="it-IT" err="1"/>
                        <a:t>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Numero massimo di linee di codice aggiunte in una singola revisione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819605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err="1"/>
                        <a:t>Average</a:t>
                      </a:r>
                      <a:r>
                        <a:rPr lang="it-IT"/>
                        <a:t> LOC </a:t>
                      </a:r>
                      <a:r>
                        <a:rPr lang="it-IT" err="1"/>
                        <a:t>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Numero medio di linee di codice aggiunte sulle revisioni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75766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Numero di revisioni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085819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err="1"/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Differenza in modulo tra linee di codice aggiunte ed eliminate sulle revisioni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669495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/>
                        <a:t>Max </a:t>
                      </a:r>
                      <a:r>
                        <a:rPr lang="it-IT" err="1"/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Valore massimo del </a:t>
                      </a:r>
                      <a:r>
                        <a:rPr lang="it-IT" err="1"/>
                        <a:t>churn</a:t>
                      </a:r>
                      <a:r>
                        <a:rPr lang="it-IT"/>
                        <a:t> in una singola revisione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488258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err="1"/>
                        <a:t>Average</a:t>
                      </a:r>
                      <a:r>
                        <a:rPr lang="it-IT"/>
                        <a:t> </a:t>
                      </a:r>
                      <a:r>
                        <a:rPr lang="it-IT" err="1"/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Media dei </a:t>
                      </a:r>
                      <a:r>
                        <a:rPr lang="it-IT" err="1"/>
                        <a:t>churn</a:t>
                      </a:r>
                      <a:r>
                        <a:rPr lang="it-IT"/>
                        <a:t> sulle revisioni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850199"/>
                  </a:ext>
                </a:extLst>
              </a:tr>
              <a:tr h="3727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err="1"/>
                        <a:t>Number</a:t>
                      </a:r>
                      <a:r>
                        <a:rPr lang="it-IT"/>
                        <a:t> of </a:t>
                      </a:r>
                      <a:r>
                        <a:rPr lang="it-IT" err="1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Numero di autori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09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658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9B7A-FACC-D67D-FD2B-5886ED4C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503C7-0E54-C9E6-15C5-99E8F264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Metodologia:</a:t>
            </a:r>
            <a:r>
              <a:rPr lang="it-IT" sz="3200" dirty="0">
                <a:ea typeface="Calibri Light"/>
                <a:cs typeface="Calibri Light"/>
              </a:rPr>
              <a:t> valutazione dei classificatori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8D99F8-4DF1-D1E4-9CD3-CB5B8C27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1A84D1DA-650C-F384-E2F3-18172F8E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/>
              <a:t>14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C9C621B6-21E3-EA5A-4BA5-CC6AA7BAC2CA}"/>
              </a:ext>
            </a:extLst>
          </p:cNvPr>
          <p:cNvSpPr txBox="1">
            <a:spLocks/>
          </p:cNvSpPr>
          <p:nvPr/>
        </p:nvSpPr>
        <p:spPr>
          <a:xfrm>
            <a:off x="5348005" y="1802485"/>
            <a:ext cx="5733536" cy="4054251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it-IT" sz="2400" dirty="0">
                <a:ea typeface="+mn-lt"/>
                <a:cs typeface="+mn-lt"/>
              </a:rPr>
              <a:t> Per la valutazione dei classificatori è stata scelta la tecnica del </a:t>
            </a:r>
            <a:r>
              <a:rPr lang="it-IT" sz="2400" b="1" err="1">
                <a:ea typeface="+mn-lt"/>
                <a:cs typeface="+mn-lt"/>
              </a:rPr>
              <a:t>walk-forward</a:t>
            </a:r>
            <a:endParaRPr lang="it-IT" sz="2400" b="1" err="1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it-IT" sz="24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È una tecnica</a:t>
            </a:r>
            <a:r>
              <a:rPr lang="it-IT" sz="2400" b="1" dirty="0">
                <a:ea typeface="Calibri" panose="020F0502020204030204"/>
                <a:cs typeface="Calibri" panose="020F0502020204030204"/>
              </a:rPr>
              <a:t> time-</a:t>
            </a:r>
            <a:r>
              <a:rPr lang="it-IT" sz="2400" b="1" dirty="0" err="1">
                <a:ea typeface="Calibri" panose="020F0502020204030204"/>
                <a:cs typeface="Calibri" panose="020F0502020204030204"/>
              </a:rPr>
              <a:t>series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, per cui tiene conto dell'ordine temporale dei dati</a:t>
            </a:r>
            <a:endParaRPr lang="it-IT" sz="2400" dirty="0" err="1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 Il training set viene ottenuto considerando solo i dati disponibili fino alla release considerata</a:t>
            </a:r>
          </a:p>
          <a:p>
            <a:pPr>
              <a:buFont typeface="Arial"/>
              <a:buChar char="•"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 L'accuratezza del modello è calcolata come la media di tutte le </a:t>
            </a:r>
            <a:r>
              <a:rPr lang="it-IT" sz="2400" dirty="0" err="1">
                <a:ea typeface="Calibri" panose="020F0502020204030204"/>
                <a:cs typeface="Calibri" panose="020F0502020204030204"/>
              </a:rPr>
              <a:t>run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effettuate</a:t>
            </a: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200660" lvl="1" indent="0">
              <a:buNone/>
            </a:pPr>
            <a:endParaRPr lang="it-IT" sz="2200">
              <a:ea typeface="Calibri"/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/>
              <a:cs typeface="Calibri"/>
            </a:endParaRPr>
          </a:p>
          <a:p>
            <a:pPr marL="0" indent="0">
              <a:buNone/>
            </a:pPr>
            <a:endParaRPr lang="it-IT" sz="2400" dirty="0">
              <a:ea typeface="Calibri"/>
              <a:cs typeface="Calibri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949BB11-DFA9-01E4-9B60-FB9ABF11D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547093"/>
              </p:ext>
            </p:extLst>
          </p:nvPr>
        </p:nvGraphicFramePr>
        <p:xfrm>
          <a:off x="1575486" y="2162432"/>
          <a:ext cx="3511144" cy="2270539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634999">
                  <a:extLst>
                    <a:ext uri="{9D8B030D-6E8A-4147-A177-3AD203B41FA5}">
                      <a16:colId xmlns:a16="http://schemas.microsoft.com/office/drawing/2014/main" val="2819055767"/>
                    </a:ext>
                  </a:extLst>
                </a:gridCol>
                <a:gridCol w="575229">
                  <a:extLst>
                    <a:ext uri="{9D8B030D-6E8A-4147-A177-3AD203B41FA5}">
                      <a16:colId xmlns:a16="http://schemas.microsoft.com/office/drawing/2014/main" val="421945628"/>
                    </a:ext>
                  </a:extLst>
                </a:gridCol>
                <a:gridCol w="575229">
                  <a:extLst>
                    <a:ext uri="{9D8B030D-6E8A-4147-A177-3AD203B41FA5}">
                      <a16:colId xmlns:a16="http://schemas.microsoft.com/office/drawing/2014/main" val="138440079"/>
                    </a:ext>
                  </a:extLst>
                </a:gridCol>
                <a:gridCol w="575229">
                  <a:extLst>
                    <a:ext uri="{9D8B030D-6E8A-4147-A177-3AD203B41FA5}">
                      <a16:colId xmlns:a16="http://schemas.microsoft.com/office/drawing/2014/main" val="927576295"/>
                    </a:ext>
                  </a:extLst>
                </a:gridCol>
                <a:gridCol w="575229">
                  <a:extLst>
                    <a:ext uri="{9D8B030D-6E8A-4147-A177-3AD203B41FA5}">
                      <a16:colId xmlns:a16="http://schemas.microsoft.com/office/drawing/2014/main" val="3951570640"/>
                    </a:ext>
                  </a:extLst>
                </a:gridCol>
                <a:gridCol w="575229">
                  <a:extLst>
                    <a:ext uri="{9D8B030D-6E8A-4147-A177-3AD203B41FA5}">
                      <a16:colId xmlns:a16="http://schemas.microsoft.com/office/drawing/2014/main" val="1092456673"/>
                    </a:ext>
                  </a:extLst>
                </a:gridCol>
              </a:tblGrid>
              <a:tr h="441739">
                <a:tc>
                  <a:txBody>
                    <a:bodyPr/>
                    <a:lstStyle/>
                    <a:p>
                      <a:r>
                        <a:rPr lang="it-IT" b="1" dirty="0"/>
                        <a:t>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b="1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37879"/>
                  </a:ext>
                </a:extLst>
              </a:tr>
              <a:tr h="361015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98114"/>
                  </a:ext>
                </a:extLst>
              </a:tr>
              <a:tr h="361015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755898"/>
                  </a:ext>
                </a:extLst>
              </a:tr>
              <a:tr h="361015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812845"/>
                  </a:ext>
                </a:extLst>
              </a:tr>
              <a:tr h="361015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958635"/>
                  </a:ext>
                </a:extLst>
              </a:tr>
              <a:tr h="361015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864484"/>
                  </a:ext>
                </a:extLst>
              </a:tr>
            </a:tbl>
          </a:graphicData>
        </a:graphic>
      </p:graphicFrame>
      <p:sp>
        <p:nvSpPr>
          <p:cNvPr id="11" name="Rettangolo 10">
            <a:extLst>
              <a:ext uri="{FF2B5EF4-FFF2-40B4-BE49-F238E27FC236}">
                <a16:creationId xmlns:a16="http://schemas.microsoft.com/office/drawing/2014/main" id="{65324BBB-E419-9BF2-6B1D-739EDE7E5BEB}"/>
              </a:ext>
            </a:extLst>
          </p:cNvPr>
          <p:cNvSpPr/>
          <p:nvPr/>
        </p:nvSpPr>
        <p:spPr>
          <a:xfrm>
            <a:off x="1576977" y="4732460"/>
            <a:ext cx="550905" cy="3463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7CBD4C7-5B3C-D40F-5092-6C581EE7DD41}"/>
              </a:ext>
            </a:extLst>
          </p:cNvPr>
          <p:cNvSpPr txBox="1"/>
          <p:nvPr/>
        </p:nvSpPr>
        <p:spPr>
          <a:xfrm>
            <a:off x="1576188" y="1797732"/>
            <a:ext cx="9411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b="1" dirty="0">
                <a:ea typeface="Calibri"/>
                <a:cs typeface="Calibri"/>
              </a:rPr>
              <a:t>Release</a:t>
            </a:r>
            <a:endParaRPr lang="it-IT" b="1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62EAF96-08F0-538A-D590-A37212423801}"/>
              </a:ext>
            </a:extLst>
          </p:cNvPr>
          <p:cNvSpPr txBox="1"/>
          <p:nvPr/>
        </p:nvSpPr>
        <p:spPr>
          <a:xfrm>
            <a:off x="2214622" y="5309109"/>
            <a:ext cx="16722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>
                <a:ea typeface="Calibri"/>
                <a:cs typeface="Calibri"/>
              </a:rPr>
              <a:t>Testing set</a:t>
            </a:r>
            <a:endParaRPr lang="it-IT" dirty="0"/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7CC64B62-6D9E-45A7-FC9A-FB9791F521F2}"/>
              </a:ext>
            </a:extLst>
          </p:cNvPr>
          <p:cNvCxnSpPr/>
          <p:nvPr/>
        </p:nvCxnSpPr>
        <p:spPr>
          <a:xfrm flipH="1">
            <a:off x="1283084" y="2593342"/>
            <a:ext cx="10083" cy="1845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0D789EF7-8F91-31A4-8F76-ECF346EFBA4C}"/>
              </a:ext>
            </a:extLst>
          </p:cNvPr>
          <p:cNvCxnSpPr>
            <a:cxnSpLocks/>
          </p:cNvCxnSpPr>
          <p:nvPr/>
        </p:nvCxnSpPr>
        <p:spPr>
          <a:xfrm>
            <a:off x="2508247" y="1965207"/>
            <a:ext cx="2440673" cy="2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419CD8D-9112-6323-5F7C-700AF426B506}"/>
              </a:ext>
            </a:extLst>
          </p:cNvPr>
          <p:cNvSpPr txBox="1"/>
          <p:nvPr/>
        </p:nvSpPr>
        <p:spPr>
          <a:xfrm>
            <a:off x="2214621" y="4691272"/>
            <a:ext cx="16722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>
                <a:ea typeface="Calibri"/>
                <a:cs typeface="Calibri"/>
              </a:rPr>
              <a:t>Training set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7343456-3A61-9154-AEDE-1E091A121C34}"/>
              </a:ext>
            </a:extLst>
          </p:cNvPr>
          <p:cNvSpPr txBox="1"/>
          <p:nvPr/>
        </p:nvSpPr>
        <p:spPr>
          <a:xfrm>
            <a:off x="1040727" y="2158137"/>
            <a:ext cx="9411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b="1" dirty="0" err="1">
                <a:ea typeface="Calibri"/>
                <a:cs typeface="Calibri"/>
              </a:rPr>
              <a:t>Run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A1BDFC51-7824-D038-ABE3-27E8C6122595}"/>
              </a:ext>
            </a:extLst>
          </p:cNvPr>
          <p:cNvSpPr/>
          <p:nvPr/>
        </p:nvSpPr>
        <p:spPr>
          <a:xfrm>
            <a:off x="1576977" y="5350298"/>
            <a:ext cx="550905" cy="3463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4814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E5DB-927A-8D6E-EB4F-FD7167597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A702FD-9111-323F-CCA5-0B0FC6FE4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Metodologia:</a:t>
            </a:r>
            <a:r>
              <a:rPr lang="it-IT" sz="3200" dirty="0">
                <a:ea typeface="Calibri Light"/>
                <a:cs typeface="Calibri Light"/>
              </a:rPr>
              <a:t> classificatori utilizzati</a:t>
            </a:r>
            <a:endParaRPr lang="it-IT" dirty="0">
              <a:ea typeface="Calibri Light"/>
              <a:cs typeface="Calibri Ligh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7DE846-2FB7-19F9-647E-80B041E7E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B0B3EA2C-942F-1B59-B19A-4412D168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781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/>
              <a:t>15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DA300491-3588-D5D5-B02C-55AB37687A13}"/>
              </a:ext>
            </a:extLst>
          </p:cNvPr>
          <p:cNvSpPr txBox="1">
            <a:spLocks/>
          </p:cNvSpPr>
          <p:nvPr/>
        </p:nvSpPr>
        <p:spPr>
          <a:xfrm>
            <a:off x="1249680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6AF893ED-9766-FCBA-7D89-50634196189C}"/>
              </a:ext>
            </a:extLst>
          </p:cNvPr>
          <p:cNvSpPr txBox="1">
            <a:spLocks/>
          </p:cNvSpPr>
          <p:nvPr/>
        </p:nvSpPr>
        <p:spPr>
          <a:xfrm>
            <a:off x="1093161" y="1996075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it-IT" sz="2400" dirty="0">
                <a:ea typeface="+mn-lt"/>
                <a:cs typeface="+mn-lt"/>
              </a:rPr>
              <a:t> I classificatori utilizzati</a:t>
            </a: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Arial"/>
              <a:buChar char="•"/>
            </a:pPr>
            <a:r>
              <a:rPr lang="it-IT" sz="220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200" err="1">
                <a:ea typeface="Calibri" panose="020F0502020204030204"/>
                <a:cs typeface="Calibri" panose="020F0502020204030204"/>
              </a:rPr>
              <a:t>Bayes</a:t>
            </a:r>
            <a:endParaRPr lang="it-IT" sz="220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Arial,Sans-Serif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Random 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Forest</a:t>
            </a:r>
            <a:endParaRPr lang="en-US" sz="2200" dirty="0" err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Arial,Sans-Serif"/>
              <a:buChar char="•"/>
            </a:pPr>
            <a:r>
              <a:rPr lang="it-IT" sz="2200" dirty="0" err="1">
                <a:ea typeface="Calibri" panose="020F0502020204030204"/>
                <a:cs typeface="Calibri" panose="020F0502020204030204"/>
              </a:rPr>
              <a:t>IBk</a:t>
            </a:r>
            <a:endParaRPr lang="it-IT" sz="2200" dirty="0" err="1">
              <a:solidFill>
                <a:srgbClr val="404040"/>
              </a:solidFill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 Tecniche utilizzate con i classificatori</a:t>
            </a:r>
          </a:p>
          <a:p>
            <a:pPr marL="383540" lvl="1">
              <a:buFont typeface="Arial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Senza nessun filtro</a:t>
            </a:r>
          </a:p>
          <a:p>
            <a:pPr marL="383540" lvl="1">
              <a:buFont typeface="Arial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 Feature 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selection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 (best first)</a:t>
            </a:r>
          </a:p>
          <a:p>
            <a:pPr marL="383540" lvl="1">
              <a:buFont typeface="Arial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 Feature 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selection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 (best first) + Sampling (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undersampling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)</a:t>
            </a:r>
          </a:p>
          <a:p>
            <a:pPr marL="383540" lvl="1">
              <a:buFont typeface="Arial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 Feature 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selection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 (best first) + Cost-Sensitive 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Classification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 (CFN = 10*CFP)</a:t>
            </a:r>
          </a:p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03581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03C5-FE9A-A64E-4516-07AD83FB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EC2827-B1C4-43E7-4F14-F8C2BC10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BookKeeper</a:t>
            </a:r>
            <a:r>
              <a:rPr lang="it-IT" sz="3200" dirty="0">
                <a:ea typeface="Calibri Light"/>
                <a:cs typeface="Calibri Light"/>
              </a:rPr>
              <a:t>, senza filtri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1BE7D7-38E8-3828-0335-C767F5D01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Bayes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sembra </a:t>
            </a:r>
            <a:r>
              <a:rPr lang="it-IT" sz="2400">
                <a:ea typeface="Calibri" panose="020F0502020204030204"/>
                <a:cs typeface="Calibri" panose="020F0502020204030204"/>
              </a:rPr>
              <a:t>comportarsi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706AC191-D5E5-93DB-DC8C-F8B44BB1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/>
              <a:t>16</a:t>
            </a:r>
          </a:p>
        </p:txBody>
      </p:sp>
      <p:pic>
        <p:nvPicPr>
          <p:cNvPr id="4" name="Immagine 3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F158AD7D-DEB0-E554-735A-844C14EB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5" y="1737860"/>
            <a:ext cx="4780472" cy="2102689"/>
          </a:xfrm>
          <a:prstGeom prst="rect">
            <a:avLst/>
          </a:prstGeom>
        </p:spPr>
      </p:pic>
      <p:pic>
        <p:nvPicPr>
          <p:cNvPr id="7" name="Immagine 6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578E0204-FE2C-0614-2046-FB610B4D8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338" y="3984324"/>
            <a:ext cx="4780472" cy="2102690"/>
          </a:xfrm>
          <a:prstGeom prst="rect">
            <a:avLst/>
          </a:prstGeom>
        </p:spPr>
      </p:pic>
      <p:pic>
        <p:nvPicPr>
          <p:cNvPr id="8" name="Immagine 7" descr="Immagine che contiene diagramma, testo, linea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F0757735-2824-6403-668D-ADDDE41D9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933" y="1745052"/>
            <a:ext cx="4794851" cy="2088313"/>
          </a:xfrm>
          <a:prstGeom prst="rect">
            <a:avLst/>
          </a:prstGeom>
        </p:spPr>
      </p:pic>
      <p:pic>
        <p:nvPicPr>
          <p:cNvPr id="9" name="Immagine 8" descr="Immagine che contiene diagramma, Disegno tecnico, Piano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9E18249A-27B8-FBE2-74AC-1B400487F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72" y="3847743"/>
            <a:ext cx="4909869" cy="224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98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0E920-ADFB-F8A0-5128-D41C537E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7EEF9D-6DBE-6C8F-C3D1-34209D82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BookKeeper</a:t>
            </a:r>
            <a:r>
              <a:rPr lang="it-IT" sz="3200" dirty="0">
                <a:ea typeface="Calibri Light"/>
                <a:cs typeface="Calibri Light"/>
              </a:rPr>
              <a:t> con feature </a:t>
            </a:r>
            <a:r>
              <a:rPr lang="it-IT" sz="3200" dirty="0" err="1">
                <a:ea typeface="Calibri Light"/>
                <a:cs typeface="Calibri Light"/>
              </a:rPr>
              <a:t>selection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DFFBB6-5E5F-9F14-081F-58CCC7C7C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Bayes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sembra </a:t>
            </a:r>
            <a:r>
              <a:rPr lang="it-IT" sz="2400">
                <a:ea typeface="Calibri" panose="020F0502020204030204"/>
                <a:cs typeface="Calibri" panose="020F0502020204030204"/>
              </a:rPr>
              <a:t>comportarsi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E3C3F719-E131-22F7-FB19-81D6544B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/>
              <a:t>17</a:t>
            </a:r>
          </a:p>
        </p:txBody>
      </p:sp>
      <p:pic>
        <p:nvPicPr>
          <p:cNvPr id="10" name="Immagine 9" descr="Immagine che contiene diagramma, Disegno tecnico, Piano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232144CD-C608-CBB9-8B83-197554A31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74" y="1896013"/>
            <a:ext cx="4780472" cy="2102690"/>
          </a:xfrm>
          <a:prstGeom prst="rect">
            <a:avLst/>
          </a:prstGeom>
        </p:spPr>
      </p:pic>
      <p:pic>
        <p:nvPicPr>
          <p:cNvPr id="11" name="Immagine 10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98CB9056-9A39-6F62-0315-8E3A6653E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830" y="3998703"/>
            <a:ext cx="4780473" cy="2102689"/>
          </a:xfrm>
          <a:prstGeom prst="rect">
            <a:avLst/>
          </a:prstGeom>
        </p:spPr>
      </p:pic>
      <p:pic>
        <p:nvPicPr>
          <p:cNvPr id="12" name="Immagine 11" descr="Immagine che contiene diagramma, Disegno tecnico, Piano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ECB6E73B-9D8D-E3E4-77A7-16B3F2A37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424" y="1888824"/>
            <a:ext cx="4794850" cy="2088314"/>
          </a:xfrm>
          <a:prstGeom prst="rect">
            <a:avLst/>
          </a:prstGeom>
        </p:spPr>
      </p:pic>
      <p:pic>
        <p:nvPicPr>
          <p:cNvPr id="13" name="Immagine 12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E3902F91-8278-81B5-9D84-015E02516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59" y="3991514"/>
            <a:ext cx="4780471" cy="210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50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5F798-099F-EDA5-E181-52CDAB3C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C41C3C-4FE9-D09C-E76F-F49299FB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223" y="286603"/>
            <a:ext cx="10921040" cy="1422003"/>
          </a:xfrm>
        </p:spPr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BookKeeper</a:t>
            </a:r>
            <a:r>
              <a:rPr lang="it-IT" sz="3200" dirty="0">
                <a:ea typeface="Calibri Light"/>
                <a:cs typeface="Calibri Light"/>
              </a:rPr>
              <a:t>, feature </a:t>
            </a:r>
            <a:r>
              <a:rPr lang="it-IT" sz="3200" dirty="0" err="1">
                <a:ea typeface="Calibri Light"/>
                <a:cs typeface="Calibri Light"/>
              </a:rPr>
              <a:t>selection</a:t>
            </a:r>
            <a:r>
              <a:rPr lang="it-IT" sz="3200" dirty="0">
                <a:ea typeface="Calibri Light"/>
                <a:cs typeface="Calibri Light"/>
              </a:rPr>
              <a:t> + </a:t>
            </a:r>
            <a:r>
              <a:rPr lang="it-IT" sz="3200" dirty="0" err="1">
                <a:ea typeface="Calibri Light"/>
                <a:cs typeface="Calibri Light"/>
              </a:rPr>
              <a:t>undersampling</a:t>
            </a:r>
            <a:endParaRPr lang="it-IT" dirty="0" err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86B033-5C30-49DF-B882-99E3EA8D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Bayes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sembra </a:t>
            </a:r>
            <a:r>
              <a:rPr lang="it-IT" sz="2400">
                <a:ea typeface="Calibri" panose="020F0502020204030204"/>
                <a:cs typeface="Calibri" panose="020F0502020204030204"/>
              </a:rPr>
              <a:t>comportarsi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95850953-28E4-F5BB-4B7D-85A29CFCB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/>
              <a:t>18</a:t>
            </a:r>
          </a:p>
        </p:txBody>
      </p:sp>
      <p:pic>
        <p:nvPicPr>
          <p:cNvPr id="4" name="Immagine 3" descr="Immagine che contiene diagramma, Disegno tecnico, Piano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908E94D8-9655-A5FE-8B5C-C3C7FAA39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2" y="1881636"/>
            <a:ext cx="4780473" cy="2102689"/>
          </a:xfrm>
          <a:prstGeom prst="rect">
            <a:avLst/>
          </a:prstGeom>
        </p:spPr>
      </p:pic>
      <p:pic>
        <p:nvPicPr>
          <p:cNvPr id="5" name="Immagine 4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397799E6-8ACB-26D6-C736-20B08EFE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70" y="3984325"/>
            <a:ext cx="4794850" cy="2102689"/>
          </a:xfrm>
          <a:prstGeom prst="rect">
            <a:avLst/>
          </a:prstGeom>
        </p:spPr>
      </p:pic>
      <p:pic>
        <p:nvPicPr>
          <p:cNvPr id="7" name="Immagine 6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26FC0AF6-8645-D238-512D-8565F0770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801" y="3987918"/>
            <a:ext cx="4794850" cy="2088312"/>
          </a:xfrm>
          <a:prstGeom prst="rect">
            <a:avLst/>
          </a:prstGeom>
        </p:spPr>
      </p:pic>
      <p:pic>
        <p:nvPicPr>
          <p:cNvPr id="8" name="Immagine 7" descr="Immagine che contiene diagramma, testo, Disegno tecni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02D303E9-5889-550E-82EB-35689ADA3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396" y="1878041"/>
            <a:ext cx="4809227" cy="210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62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09E0-920A-6DE2-D58E-E38D6271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C75070-38B3-2955-2727-FF8A844C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BookKeeper</a:t>
            </a:r>
            <a:r>
              <a:rPr lang="it-IT" sz="3200" dirty="0">
                <a:ea typeface="Calibri Light"/>
                <a:cs typeface="Calibri Light"/>
              </a:rPr>
              <a:t>, feature </a:t>
            </a:r>
            <a:r>
              <a:rPr lang="it-IT" sz="3200" dirty="0" err="1">
                <a:ea typeface="Calibri Light"/>
                <a:cs typeface="Calibri Light"/>
              </a:rPr>
              <a:t>selection</a:t>
            </a:r>
            <a:r>
              <a:rPr lang="it-IT" sz="3200" dirty="0">
                <a:ea typeface="Calibri Light"/>
                <a:cs typeface="Calibri Light"/>
              </a:rPr>
              <a:t> + CSC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65655D-8BBE-BB5B-1B49-304DE3063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Bayes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sembra </a:t>
            </a:r>
            <a:r>
              <a:rPr lang="it-IT" sz="2400">
                <a:ea typeface="Calibri" panose="020F0502020204030204"/>
                <a:cs typeface="Calibri" panose="020F0502020204030204"/>
              </a:rPr>
              <a:t>comportarsi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A2E48067-C953-143F-7061-F77ED700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/>
              <a:t>19</a:t>
            </a:r>
          </a:p>
        </p:txBody>
      </p:sp>
      <p:pic>
        <p:nvPicPr>
          <p:cNvPr id="4" name="Immagine 3" descr="Immagine che contiene diagramma, Rettangolo, Disegno tecnico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B5ADAA4C-536A-16BF-1D7E-DDFAFC9AA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76" y="1881637"/>
            <a:ext cx="4780472" cy="2102689"/>
          </a:xfrm>
          <a:prstGeom prst="rect">
            <a:avLst/>
          </a:prstGeom>
        </p:spPr>
      </p:pic>
      <p:pic>
        <p:nvPicPr>
          <p:cNvPr id="5" name="Immagine 4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0B30E790-3C6D-628C-1C30-3BA55DEA9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831" y="3984325"/>
            <a:ext cx="4794850" cy="2102689"/>
          </a:xfrm>
          <a:prstGeom prst="rect">
            <a:avLst/>
          </a:prstGeom>
        </p:spPr>
      </p:pic>
      <p:pic>
        <p:nvPicPr>
          <p:cNvPr id="7" name="Immagine 6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52F923F8-9480-161A-BEFD-55A89BB1D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87" y="4002297"/>
            <a:ext cx="4794850" cy="2088312"/>
          </a:xfrm>
          <a:prstGeom prst="rect">
            <a:avLst/>
          </a:prstGeom>
        </p:spPr>
      </p:pic>
      <p:pic>
        <p:nvPicPr>
          <p:cNvPr id="8" name="Immagine 7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9DFE8826-61C3-07F1-238A-BA6627968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4642" y="1892420"/>
            <a:ext cx="4794848" cy="21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63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8E05-6C56-B797-B8F7-FA4144EF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C6E203-3610-7364-BF57-F6559929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BookKeeper</a:t>
            </a:r>
            <a:r>
              <a:rPr lang="it-IT" sz="3200" dirty="0">
                <a:ea typeface="Calibri Light"/>
                <a:cs typeface="Calibri Light"/>
              </a:rPr>
              <a:t>, conclusioni finali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AAB7F9-23B8-0879-7C1D-29B684084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88867"/>
            <a:ext cx="10058399" cy="2844416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400" dirty="0">
                <a:ea typeface="+mn-lt"/>
                <a:cs typeface="+mn-lt"/>
              </a:rPr>
              <a:t>Andando ad analizzare il valore mediano massimo di ognuna delle metriche di valutazione è possibile notare che:</a:t>
            </a: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La </a:t>
            </a:r>
            <a:r>
              <a:rPr lang="it-IT" sz="2200" dirty="0" err="1">
                <a:ea typeface="Calibri"/>
                <a:cs typeface="Calibri"/>
              </a:rPr>
              <a:t>precision</a:t>
            </a:r>
            <a:r>
              <a:rPr lang="it-IT" sz="2200" dirty="0">
                <a:ea typeface="Calibri"/>
                <a:cs typeface="Calibri"/>
              </a:rPr>
              <a:t> più elevata si ottiene tramite </a:t>
            </a:r>
            <a:r>
              <a:rPr lang="it-IT" sz="2200" dirty="0" err="1">
                <a:ea typeface="Calibri"/>
                <a:cs typeface="Calibri"/>
              </a:rPr>
              <a:t>Naive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Bayes</a:t>
            </a:r>
            <a:r>
              <a:rPr lang="it-IT" sz="2200" dirty="0">
                <a:ea typeface="Calibri"/>
                <a:cs typeface="Calibri"/>
              </a:rPr>
              <a:t> nei casi senza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, con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e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+ </a:t>
            </a:r>
            <a:r>
              <a:rPr lang="it-IT" sz="2200" dirty="0" err="1">
                <a:ea typeface="Calibri"/>
                <a:cs typeface="Calibri"/>
              </a:rPr>
              <a:t>undersampling</a:t>
            </a:r>
            <a:endParaRPr lang="it-IT" sz="2200" dirty="0">
              <a:ea typeface="Calibri"/>
              <a:cs typeface="Calibri"/>
            </a:endParaRP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Il kappa più elevato si ottiene con </a:t>
            </a:r>
            <a:r>
              <a:rPr lang="it-IT" sz="2200" dirty="0" err="1">
                <a:ea typeface="Calibri"/>
                <a:cs typeface="Calibri"/>
              </a:rPr>
              <a:t>Naive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Bayes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+ CSC</a:t>
            </a: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La recall più elevata si ottiene con </a:t>
            </a:r>
            <a:r>
              <a:rPr lang="it-IT" sz="2200" dirty="0" err="1">
                <a:ea typeface="Calibri"/>
                <a:cs typeface="Calibri"/>
              </a:rPr>
              <a:t>Naive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Bayes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+ CSC</a:t>
            </a: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L'AUC più elevato si ottiene con </a:t>
            </a:r>
            <a:r>
              <a:rPr lang="it-IT" sz="2200" dirty="0" err="1">
                <a:ea typeface="Calibri"/>
                <a:cs typeface="Calibri"/>
              </a:rPr>
              <a:t>Naive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Bayes</a:t>
            </a:r>
            <a:r>
              <a:rPr lang="it-IT" sz="2200" dirty="0">
                <a:ea typeface="Calibri"/>
                <a:cs typeface="Calibri"/>
              </a:rPr>
              <a:t>, ognuna delle sue configurazioni porta a valori molto simili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06F57D38-03A0-3C18-BCD2-C17B6A53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>
                <a:ea typeface="Calibri"/>
                <a:cs typeface="Calibri"/>
              </a:rPr>
              <a:t>20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588DD005-F90D-F2F7-BAFD-41C0F5B97DCC}"/>
              </a:ext>
            </a:extLst>
          </p:cNvPr>
          <p:cNvSpPr txBox="1">
            <a:spLocks/>
          </p:cNvSpPr>
          <p:nvPr/>
        </p:nvSpPr>
        <p:spPr>
          <a:xfrm>
            <a:off x="1091530" y="4729833"/>
            <a:ext cx="10072776" cy="1449813"/>
          </a:xfrm>
          <a:prstGeom prst="rect">
            <a:avLst/>
          </a:prstGeom>
        </p:spPr>
        <p:txBody>
          <a:bodyPr vert="horz" lIns="0" tIns="45720" rIns="0" bIns="45720" rtlCol="0" anchor="t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Il classificatore dominante è dunque </a:t>
            </a:r>
            <a:r>
              <a:rPr lang="it-IT" sz="2200" b="1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2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200" b="1" err="1">
                <a:ea typeface="Calibri" panose="020F0502020204030204"/>
                <a:cs typeface="Calibri" panose="020F0502020204030204"/>
              </a:rPr>
              <a:t>Bayes</a:t>
            </a:r>
            <a:endParaRPr lang="it-IT" sz="2200" b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 La configurazione migliore è </a:t>
            </a:r>
            <a:r>
              <a:rPr lang="it-IT" sz="2200" b="1" dirty="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2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200" b="1" dirty="0" err="1">
                <a:ea typeface="Calibri" panose="020F0502020204030204"/>
                <a:cs typeface="Calibri" panose="020F0502020204030204"/>
              </a:rPr>
              <a:t>Bayes</a:t>
            </a:r>
            <a:r>
              <a:rPr lang="it-IT" sz="2200" b="1" dirty="0">
                <a:ea typeface="Calibri" panose="020F0502020204030204"/>
                <a:cs typeface="Calibri" panose="020F0502020204030204"/>
              </a:rPr>
              <a:t> + </a:t>
            </a:r>
            <a:r>
              <a:rPr lang="it-IT" sz="2200" b="1" dirty="0" err="1">
                <a:ea typeface="Calibri" panose="020F0502020204030204"/>
                <a:cs typeface="Calibri" panose="020F0502020204030204"/>
              </a:rPr>
              <a:t>fs</a:t>
            </a:r>
            <a:r>
              <a:rPr lang="it-IT" sz="2200" b="1" dirty="0">
                <a:ea typeface="Calibri" panose="020F0502020204030204"/>
                <a:cs typeface="Calibri" panose="020F0502020204030204"/>
              </a:rPr>
              <a:t> + CSC 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poichè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 offre i valori più alti di recall, AUC e Kappa. La </a:t>
            </a:r>
            <a:r>
              <a:rPr lang="it-IT" sz="2200" dirty="0" err="1">
                <a:ea typeface="Calibri" panose="020F0502020204030204"/>
                <a:cs typeface="Calibri" panose="020F0502020204030204"/>
              </a:rPr>
              <a:t>precision</a:t>
            </a:r>
            <a:r>
              <a:rPr lang="it-IT" sz="2200" dirty="0">
                <a:ea typeface="Calibri" panose="020F0502020204030204"/>
                <a:cs typeface="Calibri" panose="020F0502020204030204"/>
              </a:rPr>
              <a:t>, pur non essendo il massimo assoluto, rimane comunque su buoni livelli. </a:t>
            </a:r>
          </a:p>
          <a:p>
            <a:pPr marL="342900" indent="-342900">
              <a:buFont typeface="Arial" panose="020F0502020204030204" pitchFamily="34" charset="0"/>
              <a:buChar char="•"/>
            </a:pPr>
            <a:endParaRPr lang="it-IT" sz="2400" b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39082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5E8C-3B51-B99C-F61F-52152189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7BA93-AAF7-233C-FDC5-42E99C50A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err="1">
                <a:ea typeface="Calibri Light"/>
                <a:cs typeface="Calibri Light"/>
              </a:rPr>
              <a:t>OpenJPA</a:t>
            </a:r>
            <a:r>
              <a:rPr lang="it-IT" sz="3200" dirty="0">
                <a:ea typeface="Calibri Light"/>
                <a:cs typeface="Calibri Light"/>
              </a:rPr>
              <a:t> , senza filtri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3D0E40-FDD3-45D6-CF8D-4D4D67A80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Random </a:t>
            </a:r>
            <a:r>
              <a:rPr lang="it-IT" sz="2400" dirty="0" err="1">
                <a:ea typeface="Calibri" panose="020F0502020204030204"/>
                <a:cs typeface="Calibri" panose="020F0502020204030204"/>
              </a:rPr>
              <a:t>Forest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 sembra comportarsi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73FE8958-970C-72AE-F8D6-FE3AE46D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>
                <a:ea typeface="Calibri"/>
                <a:cs typeface="Calibri"/>
              </a:rPr>
              <a:t>21</a:t>
            </a:r>
          </a:p>
        </p:txBody>
      </p:sp>
      <p:pic>
        <p:nvPicPr>
          <p:cNvPr id="5" name="Immagine 4" descr="Immagine che contiene diagramma, testo, Rettangol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A84404CD-9A99-BA5C-B387-BAB1FDDD1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86" y="1896014"/>
            <a:ext cx="4780473" cy="2102689"/>
          </a:xfrm>
          <a:prstGeom prst="rect">
            <a:avLst/>
          </a:prstGeom>
        </p:spPr>
      </p:pic>
      <p:pic>
        <p:nvPicPr>
          <p:cNvPr id="10" name="Immagine 9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5280B385-4250-425D-A144-4924A187D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339" y="3984325"/>
            <a:ext cx="4794850" cy="2102690"/>
          </a:xfrm>
          <a:prstGeom prst="rect">
            <a:avLst/>
          </a:prstGeom>
        </p:spPr>
      </p:pic>
      <p:pic>
        <p:nvPicPr>
          <p:cNvPr id="11" name="Immagine 10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92281ABD-7F24-7C08-DDF6-6418A7B1E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73" y="3987918"/>
            <a:ext cx="4794850" cy="2088313"/>
          </a:xfrm>
          <a:prstGeom prst="rect">
            <a:avLst/>
          </a:prstGeom>
        </p:spPr>
      </p:pic>
      <p:pic>
        <p:nvPicPr>
          <p:cNvPr id="12" name="Immagine 11" descr="Immagine che contiene diagramma, Rettangolo, Disegno tecni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83E467C9-E1FD-C8F0-CAF3-32A11E4DC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528" y="1892420"/>
            <a:ext cx="4794850" cy="211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8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CF7C-5B72-46D2-902E-9A2E6F5E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7A63A-8E25-DAFD-0E9E-3AC6F26A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OpenJPA</a:t>
            </a:r>
            <a:r>
              <a:rPr lang="it-IT" sz="3200" dirty="0">
                <a:ea typeface="Calibri Light"/>
                <a:cs typeface="Calibri Light"/>
              </a:rPr>
              <a:t> con feature </a:t>
            </a:r>
            <a:r>
              <a:rPr lang="it-IT" sz="3200" dirty="0" err="1">
                <a:ea typeface="Calibri Light"/>
                <a:cs typeface="Calibri Light"/>
              </a:rPr>
              <a:t>selection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D90E29-AB97-49C2-520F-F84A6CE4C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Random </a:t>
            </a:r>
            <a:r>
              <a:rPr lang="it-IT" sz="2400" dirty="0" err="1">
                <a:ea typeface="Calibri" panose="020F0502020204030204"/>
                <a:cs typeface="Calibri" panose="020F0502020204030204"/>
              </a:rPr>
              <a:t>Forest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 sembra comportarsi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EC10D1FF-D3F9-19D8-CF04-F4075F8C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/>
              <a:t>22</a:t>
            </a:r>
            <a:endParaRPr lang="en-US" sz="3200" dirty="0">
              <a:ea typeface="Calibri"/>
              <a:cs typeface="Calibri"/>
            </a:endParaRPr>
          </a:p>
        </p:txBody>
      </p:sp>
      <p:pic>
        <p:nvPicPr>
          <p:cNvPr id="5" name="Immagine 4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DDA01A24-EE59-602E-49A5-906746FE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9" y="1881637"/>
            <a:ext cx="4780472" cy="2102689"/>
          </a:xfrm>
          <a:prstGeom prst="rect">
            <a:avLst/>
          </a:prstGeom>
        </p:spPr>
      </p:pic>
      <p:pic>
        <p:nvPicPr>
          <p:cNvPr id="10" name="Immagine 9" descr="Immagine che contiene diagramma, testo, Disegno tecni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A2936DB6-1ED8-7C07-581C-59029C3F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943" y="3984325"/>
            <a:ext cx="4794850" cy="2102689"/>
          </a:xfrm>
          <a:prstGeom prst="rect">
            <a:avLst/>
          </a:prstGeom>
        </p:spPr>
      </p:pic>
      <p:pic>
        <p:nvPicPr>
          <p:cNvPr id="11" name="Immagine 10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C321A75C-D694-AF61-20D1-F77935D2B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77" y="3987919"/>
            <a:ext cx="4794850" cy="2088312"/>
          </a:xfrm>
          <a:prstGeom prst="rect">
            <a:avLst/>
          </a:prstGeom>
        </p:spPr>
      </p:pic>
      <p:pic>
        <p:nvPicPr>
          <p:cNvPr id="12" name="Immagine 11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32FD1964-2E9B-A2D3-404E-580F0BA8E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755" y="1892420"/>
            <a:ext cx="4794849" cy="21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8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9BA5-3D17-71CC-674B-14EA06C0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CC7487-D7FA-A67D-0089-BF55D013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02173" cy="1450757"/>
          </a:xfrm>
        </p:spPr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OpenJPA</a:t>
            </a:r>
            <a:r>
              <a:rPr lang="it-IT" sz="3200" dirty="0">
                <a:ea typeface="Calibri Light"/>
                <a:cs typeface="Calibri Light"/>
              </a:rPr>
              <a:t> , feature </a:t>
            </a:r>
            <a:r>
              <a:rPr lang="it-IT" sz="3200" dirty="0" err="1">
                <a:ea typeface="Calibri Light"/>
                <a:cs typeface="Calibri Light"/>
              </a:rPr>
              <a:t>selection</a:t>
            </a:r>
            <a:r>
              <a:rPr lang="it-IT" sz="3200" dirty="0">
                <a:ea typeface="Calibri Light"/>
                <a:cs typeface="Calibri Light"/>
              </a:rPr>
              <a:t> + </a:t>
            </a:r>
            <a:r>
              <a:rPr lang="it-IT" sz="3200" dirty="0" err="1">
                <a:ea typeface="Calibri Light"/>
                <a:cs typeface="Calibri Light"/>
              </a:rPr>
              <a:t>undersampling</a:t>
            </a:r>
            <a:endParaRPr lang="it-IT" sz="3200" dirty="0">
              <a:ea typeface="Calibri Light"/>
              <a:cs typeface="Calibri Ligh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BDF264-B940-63F4-FF5E-C0B76AA74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400" err="1">
                <a:ea typeface="Calibri" panose="020F0502020204030204"/>
                <a:cs typeface="Calibri" panose="020F0502020204030204"/>
              </a:rPr>
              <a:t>Bayes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sembra </a:t>
            </a:r>
            <a:r>
              <a:rPr lang="it-IT" sz="2400">
                <a:ea typeface="Calibri" panose="020F0502020204030204"/>
                <a:cs typeface="Calibri" panose="020F0502020204030204"/>
              </a:rPr>
              <a:t>comportarsi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029E8286-0FBB-7217-22DB-B9C334E9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>
                <a:ea typeface="Calibri"/>
                <a:cs typeface="Calibri"/>
              </a:rPr>
              <a:t>23</a:t>
            </a:r>
          </a:p>
        </p:txBody>
      </p:sp>
      <p:pic>
        <p:nvPicPr>
          <p:cNvPr id="5" name="Immagine 4" descr="Immagine che contiene diagramma, Disegno tecnico, Piano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6EAA52FE-A447-367A-DB5E-5BE337C7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6" y="1867258"/>
            <a:ext cx="4909868" cy="2102690"/>
          </a:xfrm>
          <a:prstGeom prst="rect">
            <a:avLst/>
          </a:prstGeom>
        </p:spPr>
      </p:pic>
      <p:pic>
        <p:nvPicPr>
          <p:cNvPr id="10" name="Immagine 9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050A5CBC-F657-9F52-C9A3-0107A273F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717" y="3969948"/>
            <a:ext cx="4924246" cy="2117066"/>
          </a:xfrm>
          <a:prstGeom prst="rect">
            <a:avLst/>
          </a:prstGeom>
        </p:spPr>
      </p:pic>
      <p:pic>
        <p:nvPicPr>
          <p:cNvPr id="11" name="Immagine 10" descr="Immagine che contiene diagramma, Disegno tecnico, Rettangol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BBE136E9-4ED2-7CCA-1C35-E01651FC5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78" y="3987920"/>
            <a:ext cx="4924246" cy="2131443"/>
          </a:xfrm>
          <a:prstGeom prst="rect">
            <a:avLst/>
          </a:prstGeom>
        </p:spPr>
      </p:pic>
      <p:pic>
        <p:nvPicPr>
          <p:cNvPr id="12" name="Immagine 11" descr="Immagine che contiene diagramma, testo, Disegno tecni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6189E82E-4D11-6BCC-1B1E-9B9FF3DA1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529" y="1863664"/>
            <a:ext cx="4909869" cy="211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43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1E642-7F41-D543-A770-9BE3B11E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6EB615-CC88-84D2-8B6F-81DF3B39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</a:t>
            </a:r>
            <a:r>
              <a:rPr lang="it-IT" sz="3200" dirty="0">
                <a:ea typeface="Calibri Light"/>
                <a:cs typeface="Calibri Light"/>
              </a:rPr>
              <a:t> </a:t>
            </a:r>
            <a:r>
              <a:rPr lang="it-IT" sz="3200" dirty="0" err="1">
                <a:ea typeface="Calibri Light"/>
                <a:cs typeface="Calibri Light"/>
              </a:rPr>
              <a:t>OpenJPA</a:t>
            </a:r>
            <a:r>
              <a:rPr lang="it-IT" sz="3200" dirty="0">
                <a:ea typeface="Calibri Light"/>
                <a:cs typeface="Calibri Light"/>
              </a:rPr>
              <a:t>, feature </a:t>
            </a:r>
            <a:r>
              <a:rPr lang="it-IT" sz="3200" dirty="0" err="1">
                <a:ea typeface="Calibri Light"/>
                <a:cs typeface="Calibri Light"/>
              </a:rPr>
              <a:t>selection</a:t>
            </a:r>
            <a:r>
              <a:rPr lang="it-IT" sz="3200" dirty="0">
                <a:ea typeface="Calibri Light"/>
                <a:cs typeface="Calibri Light"/>
              </a:rPr>
              <a:t> + CSC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EE840F-EE51-B6AA-57E9-6887E82FB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4412" y="1888867"/>
            <a:ext cx="1733909" cy="4195887"/>
          </a:xfrm>
        </p:spPr>
        <p:txBody>
          <a:bodyPr vert="horz" lIns="0" tIns="45720" rIns="0" bIns="45720" rtlCol="0" anchor="t">
            <a:normAutofit/>
          </a:bodyPr>
          <a:lstStyle/>
          <a:p>
            <a:pPr marL="200660" lvl="1" indent="0">
              <a:buNone/>
            </a:pPr>
            <a:endParaRPr lang="it-IT" sz="220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it-IT" sz="2400" dirty="0">
                <a:ea typeface="Calibri" panose="020F0502020204030204"/>
                <a:cs typeface="Calibri" panose="020F0502020204030204"/>
              </a:rPr>
              <a:t>Nel complesso </a:t>
            </a:r>
            <a:r>
              <a:rPr lang="it-IT" sz="2400" dirty="0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400" dirty="0" err="1">
                <a:ea typeface="Calibri" panose="020F0502020204030204"/>
                <a:cs typeface="Calibri" panose="020F0502020204030204"/>
              </a:rPr>
              <a:t>Bayes</a:t>
            </a:r>
            <a:r>
              <a:rPr lang="it-IT" sz="2400" dirty="0">
                <a:ea typeface="Calibri" panose="020F0502020204030204"/>
                <a:cs typeface="Calibri" panose="020F0502020204030204"/>
              </a:rPr>
              <a:t>   sembra comportarsi meglio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950FA5AF-310B-E0F1-F603-823336CF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>
                <a:ea typeface="Calibri"/>
                <a:cs typeface="Calibri"/>
              </a:rPr>
              <a:t>24</a:t>
            </a:r>
          </a:p>
        </p:txBody>
      </p:sp>
      <p:pic>
        <p:nvPicPr>
          <p:cNvPr id="5" name="Immagine 4" descr="Immagine che contiene diagramma, testo, Rettangol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F6616647-0C0D-C27F-528D-A0B5615F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9" y="1852883"/>
            <a:ext cx="4780472" cy="2131443"/>
          </a:xfrm>
          <a:prstGeom prst="rect">
            <a:avLst/>
          </a:prstGeom>
        </p:spPr>
      </p:pic>
      <p:pic>
        <p:nvPicPr>
          <p:cNvPr id="10" name="Immagine 9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E0112722-0294-A278-D823-407CA0A0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945" y="3984324"/>
            <a:ext cx="4794848" cy="2088311"/>
          </a:xfrm>
          <a:prstGeom prst="rect">
            <a:avLst/>
          </a:prstGeom>
        </p:spPr>
      </p:pic>
      <p:pic>
        <p:nvPicPr>
          <p:cNvPr id="11" name="Immagine 10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18C79E7A-2726-F7FC-FADC-A03201EFB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77" y="3987920"/>
            <a:ext cx="4794850" cy="2088312"/>
          </a:xfrm>
          <a:prstGeom prst="rect">
            <a:avLst/>
          </a:prstGeom>
        </p:spPr>
      </p:pic>
      <p:pic>
        <p:nvPicPr>
          <p:cNvPr id="12" name="Immagine 11" descr="Immagine che contiene diagramma, Rettangolo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A1072DE6-72F7-8478-B9FE-633706BFA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756" y="1892420"/>
            <a:ext cx="4780472" cy="198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06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A7E9D-6DA1-2803-57BA-5B6737E5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72EAF5-3194-6EFA-15C1-30823002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Risultati: </a:t>
            </a:r>
            <a:r>
              <a:rPr lang="it-IT" sz="3200" dirty="0">
                <a:ea typeface="Calibri Light"/>
                <a:cs typeface="Calibri Light"/>
              </a:rPr>
              <a:t>OpenJPA, conclusioni finali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38EC93-B0A4-910C-46F5-F7EECC5E1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88867"/>
            <a:ext cx="10058399" cy="2844416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400" dirty="0">
                <a:ea typeface="+mn-lt"/>
                <a:cs typeface="+mn-lt"/>
              </a:rPr>
              <a:t>Andando ad analizzare il valore mediano massimo di ognuna delle metriche di valutazione è possibile notare che:</a:t>
            </a:r>
            <a:endParaRPr lang="it-IT" sz="2400" dirty="0">
              <a:ea typeface="Calibri" panose="020F0502020204030204"/>
              <a:cs typeface="Calibri" panose="020F0502020204030204"/>
            </a:endParaRP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La </a:t>
            </a:r>
            <a:r>
              <a:rPr lang="it-IT" sz="2200" dirty="0" err="1">
                <a:ea typeface="Calibri"/>
                <a:cs typeface="Calibri"/>
              </a:rPr>
              <a:t>precision</a:t>
            </a:r>
            <a:r>
              <a:rPr lang="it-IT" sz="2200" dirty="0">
                <a:ea typeface="Calibri"/>
                <a:cs typeface="Calibri"/>
              </a:rPr>
              <a:t> più elevata si ottiene tramite </a:t>
            </a:r>
            <a:r>
              <a:rPr lang="it-IT" sz="2200" dirty="0" err="1">
                <a:ea typeface="Calibri"/>
                <a:cs typeface="Calibri"/>
              </a:rPr>
              <a:t>Naive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Bayes</a:t>
            </a:r>
            <a:r>
              <a:rPr lang="it-IT" sz="2200" dirty="0">
                <a:ea typeface="Calibri"/>
                <a:cs typeface="Calibri"/>
              </a:rPr>
              <a:t> con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+ </a:t>
            </a:r>
            <a:r>
              <a:rPr lang="it-IT" sz="2200" dirty="0" err="1">
                <a:ea typeface="Calibri"/>
                <a:cs typeface="Calibri"/>
              </a:rPr>
              <a:t>undersampling</a:t>
            </a:r>
            <a:endParaRPr lang="it-IT" sz="2200" dirty="0">
              <a:ea typeface="Calibri"/>
              <a:cs typeface="Calibri"/>
            </a:endParaRP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Il kappa più elevato si ottiene con </a:t>
            </a:r>
            <a:r>
              <a:rPr lang="it-IT" sz="2200" dirty="0" err="1">
                <a:ea typeface="Calibri"/>
                <a:cs typeface="Calibri"/>
              </a:rPr>
              <a:t>Naive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Bayes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+ </a:t>
            </a:r>
            <a:r>
              <a:rPr lang="it-IT" sz="2200" dirty="0" err="1">
                <a:ea typeface="Calibri"/>
                <a:cs typeface="Calibri"/>
              </a:rPr>
              <a:t>undersampling</a:t>
            </a:r>
            <a:endParaRPr lang="it-IT" sz="2200" dirty="0">
              <a:ea typeface="Calibri"/>
              <a:cs typeface="Calibri"/>
            </a:endParaRP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La recall più elevata si ottiene con  Random </a:t>
            </a:r>
            <a:r>
              <a:rPr lang="it-IT" sz="2200" dirty="0" err="1">
                <a:ea typeface="Calibri"/>
                <a:cs typeface="Calibri"/>
              </a:rPr>
              <a:t>Forest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+ CSC</a:t>
            </a:r>
          </a:p>
          <a:p>
            <a:pPr marL="635000" lvl="1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L'AUC più elevato si ottiene con </a:t>
            </a:r>
            <a:r>
              <a:rPr lang="it-IT" sz="2200" dirty="0" err="1">
                <a:ea typeface="Calibri"/>
                <a:cs typeface="Calibri"/>
              </a:rPr>
              <a:t>Naive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Bayes</a:t>
            </a:r>
            <a:r>
              <a:rPr lang="it-IT" sz="2200" dirty="0">
                <a:ea typeface="Calibri"/>
                <a:cs typeface="Calibri"/>
              </a:rPr>
              <a:t> </a:t>
            </a:r>
            <a:r>
              <a:rPr lang="it-IT" sz="2200" dirty="0" err="1">
                <a:ea typeface="Calibri"/>
                <a:cs typeface="Calibri"/>
              </a:rPr>
              <a:t>fs</a:t>
            </a:r>
            <a:r>
              <a:rPr lang="it-IT" sz="2200" dirty="0">
                <a:ea typeface="Calibri"/>
                <a:cs typeface="Calibri"/>
              </a:rPr>
              <a:t> + </a:t>
            </a:r>
            <a:r>
              <a:rPr lang="it-IT" sz="2200" dirty="0" err="1">
                <a:ea typeface="Calibri"/>
                <a:cs typeface="Calibri"/>
              </a:rPr>
              <a:t>undersampling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D3D5D445-DD40-0AAC-E334-AA10F473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 dirty="0">
                <a:ea typeface="Calibri"/>
                <a:cs typeface="Calibri"/>
              </a:rPr>
              <a:t>26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DA89E41A-D572-68F6-66DF-FB26AE82BA03}"/>
              </a:ext>
            </a:extLst>
          </p:cNvPr>
          <p:cNvSpPr txBox="1">
            <a:spLocks/>
          </p:cNvSpPr>
          <p:nvPr/>
        </p:nvSpPr>
        <p:spPr>
          <a:xfrm>
            <a:off x="1091529" y="4241003"/>
            <a:ext cx="10360323" cy="2369962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200" dirty="0">
                <a:ea typeface="Calibri" panose="020F0502020204030204"/>
                <a:cs typeface="Calibri" panose="020F0502020204030204"/>
              </a:rPr>
              <a:t>Il classificatore dominante è dunque </a:t>
            </a:r>
            <a:r>
              <a:rPr lang="it-IT" sz="2200" b="1" err="1">
                <a:ea typeface="Calibri" panose="020F0502020204030204"/>
                <a:cs typeface="Calibri" panose="020F0502020204030204"/>
              </a:rPr>
              <a:t>Naive</a:t>
            </a:r>
            <a:r>
              <a:rPr lang="it-IT" sz="22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it-IT" sz="2200" b="1" err="1">
                <a:ea typeface="Calibri" panose="020F0502020204030204"/>
                <a:cs typeface="Calibri" panose="020F0502020204030204"/>
              </a:rPr>
              <a:t>Bayes</a:t>
            </a:r>
            <a:endParaRPr lang="it-IT" sz="2200" b="1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200" dirty="0">
                <a:ea typeface="+mn-lt"/>
                <a:cs typeface="+mn-lt"/>
              </a:rPr>
              <a:t>“La configurazione migliore risulta essere</a:t>
            </a:r>
            <a:r>
              <a:rPr lang="it-IT" sz="2200" b="1" dirty="0">
                <a:ea typeface="+mn-lt"/>
                <a:cs typeface="+mn-lt"/>
              </a:rPr>
              <a:t> </a:t>
            </a:r>
            <a:r>
              <a:rPr lang="it-IT" sz="2200" b="1" dirty="0" err="1">
                <a:ea typeface="+mn-lt"/>
                <a:cs typeface="+mn-lt"/>
              </a:rPr>
              <a:t>Naive</a:t>
            </a:r>
            <a:r>
              <a:rPr lang="it-IT" sz="2200" b="1" dirty="0">
                <a:ea typeface="+mn-lt"/>
                <a:cs typeface="+mn-lt"/>
              </a:rPr>
              <a:t> </a:t>
            </a:r>
            <a:r>
              <a:rPr lang="it-IT" sz="2200" b="1" dirty="0" err="1">
                <a:ea typeface="+mn-lt"/>
                <a:cs typeface="+mn-lt"/>
              </a:rPr>
              <a:t>Bayes</a:t>
            </a:r>
            <a:r>
              <a:rPr lang="it-IT" sz="2200" b="1" dirty="0">
                <a:ea typeface="+mn-lt"/>
                <a:cs typeface="+mn-lt"/>
              </a:rPr>
              <a:t> + FS + </a:t>
            </a:r>
            <a:r>
              <a:rPr lang="it-IT" sz="2200" b="1" dirty="0" err="1">
                <a:ea typeface="+mn-lt"/>
                <a:cs typeface="+mn-lt"/>
              </a:rPr>
              <a:t>undersampling</a:t>
            </a:r>
            <a:r>
              <a:rPr lang="it-IT" sz="2200" b="1" dirty="0">
                <a:ea typeface="+mn-lt"/>
                <a:cs typeface="+mn-lt"/>
              </a:rPr>
              <a:t> </a:t>
            </a:r>
            <a:r>
              <a:rPr lang="it-IT" sz="2200" dirty="0" err="1">
                <a:ea typeface="+mn-lt"/>
                <a:cs typeface="+mn-lt"/>
              </a:rPr>
              <a:t>poichè</a:t>
            </a:r>
            <a:r>
              <a:rPr lang="it-IT" sz="2200" dirty="0">
                <a:ea typeface="+mn-lt"/>
                <a:cs typeface="+mn-lt"/>
              </a:rPr>
              <a:t> offre i valori più alti di </a:t>
            </a:r>
            <a:r>
              <a:rPr lang="it-IT" sz="2200" dirty="0" err="1">
                <a:ea typeface="+mn-lt"/>
                <a:cs typeface="+mn-lt"/>
              </a:rPr>
              <a:t>precision</a:t>
            </a:r>
            <a:r>
              <a:rPr lang="it-IT" sz="2200" dirty="0">
                <a:ea typeface="+mn-lt"/>
                <a:cs typeface="+mn-lt"/>
              </a:rPr>
              <a:t>, AUC e Kappa. Il recall, pur non essendo il massimo assoluto, rimane comunque su buoni livelli. </a:t>
            </a:r>
            <a:endParaRPr lang="it-IT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74482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C3DC-BCD0-5A3E-2425-B00AC825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B8684D-7770-46D1-D9DC-E3F65806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6700" dirty="0">
                <a:ea typeface="Calibri Light"/>
                <a:cs typeface="Calibri Light"/>
              </a:rPr>
              <a:t>Link utili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09A2B2-BD21-01A7-9A82-DADD21F5C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88867"/>
            <a:ext cx="10058399" cy="2844416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400" b="1" dirty="0" err="1">
                <a:ea typeface="+mn-lt"/>
                <a:cs typeface="+mn-lt"/>
              </a:rPr>
              <a:t>Github</a:t>
            </a:r>
            <a:r>
              <a:rPr lang="it-IT" sz="2400" b="1" dirty="0">
                <a:ea typeface="+mn-lt"/>
                <a:cs typeface="+mn-lt"/>
              </a:rPr>
              <a:t>: </a:t>
            </a:r>
            <a:r>
              <a:rPr lang="it-IT" sz="2400" dirty="0">
                <a:ea typeface="+mn-lt"/>
                <a:cs typeface="+mn-lt"/>
                <a:hlinkClick r:id="rId2"/>
              </a:rPr>
              <a:t>https://github.com/MarioMarcello98/ProgettoISW2Falessi</a:t>
            </a:r>
            <a:endParaRPr lang="it-IT" sz="2400" dirty="0">
              <a:ea typeface="+mn-lt"/>
              <a:cs typeface="+mn-lt"/>
            </a:endParaRPr>
          </a:p>
          <a:p>
            <a:pPr marL="342900" indent="-342900">
              <a:buFont typeface="Arial" panose="020F0502020204030204" pitchFamily="34" charset="0"/>
              <a:buChar char="•"/>
            </a:pPr>
            <a:r>
              <a:rPr lang="it-IT" sz="2400" b="1" err="1">
                <a:ea typeface="Calibri"/>
                <a:cs typeface="Calibri"/>
              </a:rPr>
              <a:t>SonarCloud</a:t>
            </a:r>
            <a:r>
              <a:rPr lang="it-IT" sz="2400" b="1">
                <a:ea typeface="Calibri"/>
                <a:cs typeface="Calibri"/>
              </a:rPr>
              <a:t>:</a:t>
            </a:r>
            <a:r>
              <a:rPr lang="it-IT" sz="2400">
                <a:ea typeface="Calibri"/>
                <a:cs typeface="Calibri"/>
              </a:rPr>
              <a:t> </a:t>
            </a:r>
            <a:r>
              <a:rPr lang="it-IT" sz="2400" dirty="0">
                <a:ea typeface="+mn-lt"/>
                <a:cs typeface="+mn-lt"/>
                <a:hlinkClick r:id="rId3"/>
              </a:rPr>
              <a:t>https://sonarcloud.io/summary/new_code?id=MarioMarcello98_ProgettoISW2Falessi</a:t>
            </a:r>
          </a:p>
        </p:txBody>
      </p:sp>
      <p:sp>
        <p:nvSpPr>
          <p:cNvPr id="6" name="Segnaposto numero diapositiva 7">
            <a:extLst>
              <a:ext uri="{FF2B5EF4-FFF2-40B4-BE49-F238E27FC236}">
                <a16:creationId xmlns:a16="http://schemas.microsoft.com/office/drawing/2014/main" id="{63DB634B-3659-9EBC-31CD-AFA2AF7F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158" y="6350225"/>
            <a:ext cx="1042219" cy="523219"/>
          </a:xfrm>
        </p:spPr>
        <p:txBody>
          <a:bodyPr/>
          <a:lstStyle/>
          <a:p>
            <a:pPr algn="ctr"/>
            <a:r>
              <a:rPr lang="en-US" sz="3200">
                <a:ea typeface="Calibri"/>
                <a:cs typeface="Calibri"/>
              </a:rPr>
              <a:t>26</a:t>
            </a:r>
            <a:endParaRPr lang="en-US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38946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Verde gia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7" baseType="lpstr">
      <vt:lpstr>Retrospettivo</vt:lpstr>
      <vt:lpstr>Presentazione standard di PowerPoint</vt:lpstr>
      <vt:lpstr>Agenda</vt:lpstr>
      <vt:lpstr>Contesto</vt:lpstr>
      <vt:lpstr>Contesto</vt:lpstr>
      <vt:lpstr>Obiettivo</vt:lpstr>
      <vt:lpstr>Metodologia: come individuare le classi buggy?</vt:lpstr>
      <vt:lpstr>Metodologia: come individuare le classi buggy?</vt:lpstr>
      <vt:lpstr>Metodologia: come individuare le classi buggy?</vt:lpstr>
      <vt:lpstr>Metodologia: come individuare le classi buggy?</vt:lpstr>
      <vt:lpstr>Metodologia: come individuare le classi buggy?</vt:lpstr>
      <vt:lpstr>Metodologia: alcune assunzioni</vt:lpstr>
      <vt:lpstr>Metodologia: costruzione del dataset</vt:lpstr>
      <vt:lpstr>Metodologia: costruzione del dataset</vt:lpstr>
      <vt:lpstr>Metodologia: valutazione dei classificatori</vt:lpstr>
      <vt:lpstr>Metodologia: classificatori utilizzati</vt:lpstr>
      <vt:lpstr>Risultati: BookKeeper, senza filtri</vt:lpstr>
      <vt:lpstr>Risultati: BookKeeper con feature selection</vt:lpstr>
      <vt:lpstr>Risultati: BookKeeper, feature selection + undersampling</vt:lpstr>
      <vt:lpstr>Risultati: BookKeeper, feature selection + CSC</vt:lpstr>
      <vt:lpstr>Risultati: BookKeeper, conclusioni finali</vt:lpstr>
      <vt:lpstr>Risultati: OpenJPA , senza filtri</vt:lpstr>
      <vt:lpstr>Risultati: OpenJPA con feature selection</vt:lpstr>
      <vt:lpstr>Risultati: OpenJPA , feature selection + undersampling</vt:lpstr>
      <vt:lpstr>Risultati: OpenJPA, feature selection + CSC</vt:lpstr>
      <vt:lpstr>Risultati: OpenJPA, conclusioni finali</vt:lpstr>
      <vt:lpstr>Link utili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marcello</dc:creator>
  <cp:revision>870</cp:revision>
  <dcterms:created xsi:type="dcterms:W3CDTF">2025-02-06T18:56:40Z</dcterms:created>
  <dcterms:modified xsi:type="dcterms:W3CDTF">2025-06-29T21:21:18Z</dcterms:modified>
</cp:coreProperties>
</file>